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8" r:id="rId3"/>
    <p:sldId id="272" r:id="rId4"/>
    <p:sldId id="586" r:id="rId5"/>
    <p:sldId id="637" r:id="rId6"/>
    <p:sldId id="680" r:id="rId7"/>
    <p:sldId id="449" r:id="rId8"/>
    <p:sldId id="655" r:id="rId9"/>
    <p:sldId id="640" r:id="rId10"/>
    <p:sldId id="645" r:id="rId11"/>
    <p:sldId id="644" r:id="rId12"/>
    <p:sldId id="646" r:id="rId13"/>
    <p:sldId id="649" r:id="rId14"/>
    <p:sldId id="657" r:id="rId15"/>
    <p:sldId id="648" r:id="rId16"/>
    <p:sldId id="650" r:id="rId17"/>
    <p:sldId id="647" r:id="rId18"/>
    <p:sldId id="658" r:id="rId19"/>
    <p:sldId id="653" r:id="rId20"/>
    <p:sldId id="651" r:id="rId21"/>
    <p:sldId id="663" r:id="rId22"/>
    <p:sldId id="666" r:id="rId23"/>
    <p:sldId id="665" r:id="rId24"/>
    <p:sldId id="654" r:id="rId25"/>
    <p:sldId id="667" r:id="rId26"/>
    <p:sldId id="669" r:id="rId27"/>
    <p:sldId id="668" r:id="rId28"/>
    <p:sldId id="672" r:id="rId29"/>
    <p:sldId id="673" r:id="rId30"/>
    <p:sldId id="674" r:id="rId31"/>
    <p:sldId id="676" r:id="rId32"/>
    <p:sldId id="675" r:id="rId33"/>
    <p:sldId id="679" r:id="rId34"/>
    <p:sldId id="681" r:id="rId35"/>
    <p:sldId id="689" r:id="rId36"/>
    <p:sldId id="682" r:id="rId37"/>
    <p:sldId id="684" r:id="rId38"/>
    <p:sldId id="685" r:id="rId39"/>
    <p:sldId id="687" r:id="rId40"/>
    <p:sldId id="688" r:id="rId41"/>
    <p:sldId id="690" r:id="rId42"/>
    <p:sldId id="691" r:id="rId43"/>
    <p:sldId id="693" r:id="rId44"/>
    <p:sldId id="695" r:id="rId45"/>
    <p:sldId id="696" r:id="rId46"/>
    <p:sldId id="697" r:id="rId47"/>
    <p:sldId id="698" r:id="rId48"/>
    <p:sldId id="700" r:id="rId49"/>
    <p:sldId id="701" r:id="rId50"/>
    <p:sldId id="702" r:id="rId51"/>
    <p:sldId id="703" r:id="rId52"/>
    <p:sldId id="707" r:id="rId53"/>
    <p:sldId id="708" r:id="rId54"/>
    <p:sldId id="713" r:id="rId55"/>
    <p:sldId id="709" r:id="rId56"/>
    <p:sldId id="710" r:id="rId57"/>
    <p:sldId id="711" r:id="rId58"/>
    <p:sldId id="712" r:id="rId59"/>
    <p:sldId id="714" r:id="rId60"/>
    <p:sldId id="718" r:id="rId61"/>
    <p:sldId id="716" r:id="rId62"/>
    <p:sldId id="721" r:id="rId63"/>
    <p:sldId id="722" r:id="rId64"/>
    <p:sldId id="724" r:id="rId65"/>
    <p:sldId id="717" r:id="rId66"/>
    <p:sldId id="723" r:id="rId67"/>
    <p:sldId id="720" r:id="rId68"/>
    <p:sldId id="726" r:id="rId69"/>
    <p:sldId id="727" r:id="rId70"/>
    <p:sldId id="728" r:id="rId71"/>
    <p:sldId id="729" r:id="rId72"/>
    <p:sldId id="731" r:id="rId73"/>
    <p:sldId id="730" r:id="rId74"/>
    <p:sldId id="732" r:id="rId75"/>
    <p:sldId id="733" r:id="rId76"/>
    <p:sldId id="737" r:id="rId77"/>
    <p:sldId id="734" r:id="rId78"/>
    <p:sldId id="735" r:id="rId79"/>
    <p:sldId id="736" r:id="rId80"/>
    <p:sldId id="740" r:id="rId81"/>
    <p:sldId id="738" r:id="rId82"/>
    <p:sldId id="742" r:id="rId83"/>
    <p:sldId id="741" r:id="rId84"/>
    <p:sldId id="743" r:id="rId85"/>
    <p:sldId id="744" r:id="rId86"/>
    <p:sldId id="745" r:id="rId87"/>
    <p:sldId id="746" r:id="rId88"/>
    <p:sldId id="747" r:id="rId89"/>
    <p:sldId id="748" r:id="rId90"/>
    <p:sldId id="749" r:id="rId91"/>
    <p:sldId id="750" r:id="rId92"/>
    <p:sldId id="755" r:id="rId93"/>
    <p:sldId id="752" r:id="rId94"/>
    <p:sldId id="756" r:id="rId95"/>
    <p:sldId id="757" r:id="rId96"/>
    <p:sldId id="760" r:id="rId97"/>
    <p:sldId id="761" r:id="rId98"/>
    <p:sldId id="762" r:id="rId99"/>
    <p:sldId id="763" r:id="rId100"/>
    <p:sldId id="759" r:id="rId101"/>
    <p:sldId id="758" r:id="rId102"/>
    <p:sldId id="764" r:id="rId103"/>
    <p:sldId id="765" r:id="rId104"/>
    <p:sldId id="767" r:id="rId105"/>
    <p:sldId id="770" r:id="rId106"/>
    <p:sldId id="773" r:id="rId107"/>
    <p:sldId id="771" r:id="rId108"/>
    <p:sldId id="778" r:id="rId109"/>
    <p:sldId id="768" r:id="rId110"/>
    <p:sldId id="775" r:id="rId111"/>
    <p:sldId id="776" r:id="rId112"/>
    <p:sldId id="779" r:id="rId113"/>
    <p:sldId id="782" r:id="rId114"/>
    <p:sldId id="783" r:id="rId115"/>
    <p:sldId id="784" r:id="rId116"/>
    <p:sldId id="780" r:id="rId117"/>
    <p:sldId id="785" r:id="rId118"/>
    <p:sldId id="789" r:id="rId119"/>
    <p:sldId id="787" r:id="rId120"/>
    <p:sldId id="788" r:id="rId121"/>
    <p:sldId id="791" r:id="rId122"/>
    <p:sldId id="792" r:id="rId123"/>
    <p:sldId id="793" r:id="rId124"/>
    <p:sldId id="798" r:id="rId125"/>
    <p:sldId id="799" r:id="rId126"/>
    <p:sldId id="271" r:id="rId127"/>
  </p:sldIdLst>
  <p:sldSz cx="9144000" cy="5143500" type="screen16x9"/>
  <p:notesSz cx="6858000" cy="9144000"/>
  <p:custDataLst>
    <p:tags r:id="rId1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8" userDrawn="1">
          <p15:clr>
            <a:srgbClr val="A4A3A4"/>
          </p15:clr>
        </p15:guide>
        <p15:guide id="2" pos="287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NGZHUNING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  <a:srgbClr val="00B0F0"/>
    <a:srgbClr val="1F4E79"/>
    <a:srgbClr val="D0CECE"/>
    <a:srgbClr val="800000"/>
    <a:srgbClr val="FF0000"/>
    <a:srgbClr val="0000FF"/>
    <a:srgbClr val="FFFFFF"/>
    <a:srgbClr val="EAEA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95" autoAdjust="0"/>
    <p:restoredTop sz="94660"/>
  </p:normalViewPr>
  <p:slideViewPr>
    <p:cSldViewPr snapToGrid="0" showGuides="1">
      <p:cViewPr varScale="1">
        <p:scale>
          <a:sx n="151" d="100"/>
          <a:sy n="151" d="100"/>
        </p:scale>
        <p:origin x="642" y="108"/>
      </p:cViewPr>
      <p:guideLst>
        <p:guide orient="horz" pos="1608"/>
        <p:guide pos="28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2" Type="http://schemas.openxmlformats.org/officeDocument/2006/relationships/tags" Target="tags/tag1.xml"/><Relationship Id="rId131" Type="http://schemas.openxmlformats.org/officeDocument/2006/relationships/commentAuthors" Target="commentAuthors.xml"/><Relationship Id="rId130" Type="http://schemas.openxmlformats.org/officeDocument/2006/relationships/tableStyles" Target="tableStyles.xml"/><Relationship Id="rId13" Type="http://schemas.openxmlformats.org/officeDocument/2006/relationships/slide" Target="slides/slide11.xml"/><Relationship Id="rId129" Type="http://schemas.openxmlformats.org/officeDocument/2006/relationships/viewProps" Target="viewProps.xml"/><Relationship Id="rId128" Type="http://schemas.openxmlformats.org/officeDocument/2006/relationships/presProps" Target="presProps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54D0E-B397-44A9-9DEC-6D5F0C511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007F3-77CB-45E4-B949-323B6331A10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microsoft.com/office/2007/relationships/hdphoto" Target="../media/image24.wdp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microsoft.com/office/2007/relationships/hdphoto" Target="../media/image24.wdp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6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6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6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4" name="矩形 39"/>
          <p:cNvSpPr>
            <a:spLocks noChangeArrowheads="1"/>
          </p:cNvSpPr>
          <p:nvPr/>
        </p:nvSpPr>
        <p:spPr bwMode="auto">
          <a:xfrm>
            <a:off x="2351664" y="2122369"/>
            <a:ext cx="4288271" cy="695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4277" tIns="17138" rIns="34277" bIns="1713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ts val="280"/>
              </a:spcBef>
              <a:defRPr/>
            </a:pPr>
            <a:r>
              <a:rPr lang="en-US" altLang="zh-CN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部件使用</a:t>
            </a:r>
            <a:endParaRPr lang="zh-CN" altLang="en-US" sz="32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2947665" y="1652533"/>
            <a:ext cx="3799419" cy="183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的编程思想（了解）</a:t>
            </a:r>
            <a:endParaRPr lang="en-US" altLang="zh-CN" sz="2000" b="1">
              <a:solidFill>
                <a:srgbClr val="FF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基础对象（掌握）</a:t>
            </a:r>
            <a:endParaRPr lang="en-US" altLang="zh-CN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部件使用（熟悉）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4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，课堂总结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3500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的编程思想（了解）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89184" y="1153568"/>
            <a:ext cx="735941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LVGL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采用的是面向对象的编程思想，以抽象的类来实例化不同的对象（部件）。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286103" y="2015744"/>
            <a:ext cx="7046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身高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286103" y="2394120"/>
            <a:ext cx="7046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体重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286103" y="3150872"/>
            <a:ext cx="7046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技能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286103" y="3527361"/>
            <a:ext cx="91087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性格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286103" y="2772496"/>
            <a:ext cx="7046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年龄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29637" y="3362003"/>
            <a:ext cx="6506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人类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556484" y="2016481"/>
            <a:ext cx="7046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1.8m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556484" y="2398964"/>
            <a:ext cx="7046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70kg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556484" y="3163930"/>
            <a:ext cx="5579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搏击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556484" y="3546411"/>
            <a:ext cx="602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稳重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556484" y="2781447"/>
            <a:ext cx="7046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39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岁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l="11610" t="5053" r="7356" b="8127"/>
          <a:stretch>
            <a:fillRect/>
          </a:stretch>
        </p:blipFill>
        <p:spPr>
          <a:xfrm>
            <a:off x="611316" y="2358236"/>
            <a:ext cx="887284" cy="969297"/>
          </a:xfrm>
          <a:prstGeom prst="rect">
            <a:avLst/>
          </a:prstGeom>
        </p:spPr>
      </p:pic>
      <p:cxnSp>
        <p:nvCxnSpPr>
          <p:cNvPr id="60" name="直接连接符 59"/>
          <p:cNvCxnSpPr/>
          <p:nvPr/>
        </p:nvCxnSpPr>
        <p:spPr>
          <a:xfrm>
            <a:off x="2940284" y="2183835"/>
            <a:ext cx="2520000" cy="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2940284" y="2564603"/>
            <a:ext cx="2520000" cy="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2940284" y="2945371"/>
            <a:ext cx="2520000" cy="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2940284" y="3706907"/>
            <a:ext cx="2520000" cy="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2940284" y="3326139"/>
            <a:ext cx="2520000" cy="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3"/>
          <a:srcRect l="9889" t="6223" r="7404" b="7727"/>
          <a:stretch>
            <a:fillRect/>
          </a:stretch>
        </p:blipFill>
        <p:spPr>
          <a:xfrm>
            <a:off x="7079472" y="2406845"/>
            <a:ext cx="985027" cy="927038"/>
          </a:xfrm>
          <a:prstGeom prst="rect">
            <a:avLst/>
          </a:prstGeom>
        </p:spPr>
      </p:pic>
      <p:sp>
        <p:nvSpPr>
          <p:cNvPr id="67" name="文本框 66"/>
          <p:cNvSpPr txBox="1"/>
          <p:nvPr/>
        </p:nvSpPr>
        <p:spPr>
          <a:xfrm>
            <a:off x="7162527" y="3368353"/>
            <a:ext cx="79351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李博士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0"/>
      <p:bldP spid="28" grpId="0"/>
      <p:bldP spid="29" grpId="0"/>
      <p:bldP spid="31" grpId="0"/>
      <p:bldP spid="32" grpId="0"/>
      <p:bldP spid="35" grpId="0"/>
      <p:bldP spid="37" grpId="0"/>
      <p:bldP spid="38" grpId="0"/>
      <p:bldP spid="39" grpId="0"/>
      <p:bldP spid="41" grpId="0"/>
      <p:bldP spid="42" grpId="0"/>
      <p:bldP spid="6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: 圆角 54"/>
          <p:cNvSpPr/>
          <p:nvPr/>
        </p:nvSpPr>
        <p:spPr>
          <a:xfrm>
            <a:off x="6114547" y="1888851"/>
            <a:ext cx="1746753" cy="1598738"/>
          </a:xfrm>
          <a:prstGeom prst="roundRect">
            <a:avLst>
              <a:gd name="adj" fmla="val 83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/>
          <p:cNvSpPr/>
          <p:nvPr/>
        </p:nvSpPr>
        <p:spPr>
          <a:xfrm>
            <a:off x="2813566" y="2513562"/>
            <a:ext cx="1999734" cy="4170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/>
        </p:nvSpPr>
        <p:spPr>
          <a:xfrm>
            <a:off x="592165" y="2513562"/>
            <a:ext cx="1001802" cy="4170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3500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的编程思想（了解）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22534" y="2552796"/>
            <a:ext cx="100180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b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</a:t>
            </a:r>
            <a:endParaRPr lang="zh-CN" altLang="en-US" sz="1600" b="1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1750057" y="2722073"/>
            <a:ext cx="900000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2899467" y="2552797"/>
            <a:ext cx="176580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（基础对象）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222497" y="1999179"/>
            <a:ext cx="156895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开关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(lv_switch)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216147" y="2416202"/>
            <a:ext cx="164515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标签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(lv_label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216147" y="2833225"/>
            <a:ext cx="157530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滑块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(lv_slider)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216147" y="3152922"/>
            <a:ext cx="62280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······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88816" y="1171309"/>
            <a:ext cx="669938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语言中没有“类”的概念，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LVGL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以结构体的形式来实现“类”的思维。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51" name="直接箭头连接符 50"/>
          <p:cNvCxnSpPr/>
          <p:nvPr/>
        </p:nvCxnSpPr>
        <p:spPr>
          <a:xfrm>
            <a:off x="4994907" y="2719996"/>
            <a:ext cx="900000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5163202" y="2398907"/>
            <a:ext cx="58880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衍生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852895" y="2398907"/>
            <a:ext cx="75708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实例化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3448925" y="3897611"/>
            <a:ext cx="75477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父对象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3784600" y="3002502"/>
            <a:ext cx="0" cy="883698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6649325" y="3897611"/>
            <a:ext cx="82805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子对象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71" name="直接连接符 70"/>
          <p:cNvCxnSpPr/>
          <p:nvPr/>
        </p:nvCxnSpPr>
        <p:spPr>
          <a:xfrm flipH="1">
            <a:off x="6994525" y="3540125"/>
            <a:ext cx="2924" cy="398611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47" grpId="0" animBg="1"/>
      <p:bldP spid="14" grpId="0" animBg="1"/>
      <p:bldP spid="30" grpId="0"/>
      <p:bldP spid="36" grpId="0"/>
      <p:bldP spid="40" grpId="0"/>
      <p:bldP spid="43" grpId="0"/>
      <p:bldP spid="44" grpId="0"/>
      <p:bldP spid="46" grpId="0"/>
      <p:bldP spid="48" grpId="0"/>
      <p:bldP spid="56" grpId="0"/>
      <p:bldP spid="57" grpId="0"/>
      <p:bldP spid="68" grpId="0"/>
      <p:bldP spid="7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2947665" y="1652533"/>
            <a:ext cx="3799419" cy="183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的编程思想（了解）</a:t>
            </a:r>
            <a:endParaRPr lang="en-US" altLang="zh-CN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基础对象（掌握）</a:t>
            </a:r>
            <a:endParaRPr lang="en-US" altLang="zh-CN" sz="2000" b="1">
              <a:solidFill>
                <a:srgbClr val="FF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部件使用（熟悉）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4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，课堂总结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电机应用控制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4" name="矩形 39"/>
          <p:cNvSpPr>
            <a:spLocks noChangeArrowheads="1"/>
          </p:cNvSpPr>
          <p:nvPr/>
        </p:nvSpPr>
        <p:spPr bwMode="auto">
          <a:xfrm>
            <a:off x="3069907" y="1957364"/>
            <a:ext cx="3004185" cy="137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2.1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 基础对象简介</a:t>
            </a:r>
            <a:endParaRPr lang="en-US" altLang="zh-CN" sz="2000" b="1">
              <a:solidFill>
                <a:srgbClr val="FF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2.2  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父和子对象的关系</a:t>
            </a:r>
            <a:endParaRPr lang="zh-CN" altLang="en-US" sz="2000" b="1">
              <a:solidFill>
                <a:srgbClr val="FF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2.3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部件的基本属性</a:t>
            </a:r>
            <a:endParaRPr lang="en-US" altLang="zh-CN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578" y="466454"/>
            <a:ext cx="402336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基础对象（掌握）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65601" y="4835727"/>
            <a:ext cx="485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2703307" y="3220173"/>
            <a:ext cx="2085642" cy="1294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3380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2.1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基础对象简介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28650" y="1106707"/>
            <a:ext cx="76962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基础对象（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）可以作为父对象，来创建其他对象，同时它也可作为部件使用。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6584950" y="1613988"/>
            <a:ext cx="1575305" cy="1532584"/>
          </a:xfrm>
          <a:prstGeom prst="roundRect">
            <a:avLst>
              <a:gd name="adj" fmla="val 796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692899" y="1688903"/>
            <a:ext cx="146735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开关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(lv_switch)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686551" y="2105927"/>
            <a:ext cx="13462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标签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(lv_label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686550" y="2522950"/>
            <a:ext cx="157530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滑块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(lv_slider)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686550" y="2842647"/>
            <a:ext cx="62280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······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4785561" y="2359315"/>
            <a:ext cx="1773989" cy="960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2708992" y="1721804"/>
            <a:ext cx="2085642" cy="1294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2875476" y="2199232"/>
            <a:ext cx="177398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scr_act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（活动屏幕）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405892" y="2061138"/>
            <a:ext cx="5424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创建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37539" y="2919743"/>
            <a:ext cx="103505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基础对象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48" name="直接箭头连接符 47"/>
          <p:cNvCxnSpPr>
            <a:endCxn id="37" idx="1"/>
          </p:cNvCxnSpPr>
          <p:nvPr/>
        </p:nvCxnSpPr>
        <p:spPr>
          <a:xfrm flipV="1">
            <a:off x="1672589" y="2368915"/>
            <a:ext cx="1036403" cy="720105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1672589" y="3089020"/>
            <a:ext cx="1026826" cy="771914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矩形: 圆角 49"/>
          <p:cNvSpPr/>
          <p:nvPr/>
        </p:nvSpPr>
        <p:spPr>
          <a:xfrm>
            <a:off x="3450975" y="3380937"/>
            <a:ext cx="622990" cy="62106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3228884" y="4104311"/>
            <a:ext cx="10671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部件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20" grpId="0"/>
      <p:bldP spid="23" grpId="0" animBg="1"/>
      <p:bldP spid="27" grpId="0"/>
      <p:bldP spid="30" grpId="0"/>
      <p:bldP spid="34" grpId="0"/>
      <p:bldP spid="35" grpId="0"/>
      <p:bldP spid="37" grpId="0" animBg="1"/>
      <p:bldP spid="42" grpId="0"/>
      <p:bldP spid="44" grpId="0"/>
      <p:bldP spid="47" grpId="0"/>
      <p:bldP spid="50" grpId="0" animBg="1"/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8079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2.2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父和子对象的关系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41064" y="1737324"/>
            <a:ext cx="277346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、子对象会随着父对象移动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41063" y="3643357"/>
            <a:ext cx="544021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、子对象的位置超出父对象的范围，则超出的部分不显示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601003" y="1260442"/>
            <a:ext cx="2093677" cy="137343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601003" y="1260442"/>
            <a:ext cx="1166577" cy="9372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702889" y="1353713"/>
            <a:ext cx="518591" cy="52760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4229069" y="1820534"/>
            <a:ext cx="53092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父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808443" y="1483489"/>
            <a:ext cx="36350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子</a:t>
            </a:r>
            <a:endParaRPr lang="zh-CN" altLang="en-US" sz="120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261653" y="1260442"/>
            <a:ext cx="2093677" cy="137343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6680753" y="1457292"/>
            <a:ext cx="1166577" cy="9372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6782639" y="1550563"/>
            <a:ext cx="518591" cy="52760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7308819" y="2017384"/>
            <a:ext cx="39014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父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881843" y="1680339"/>
            <a:ext cx="38255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子</a:t>
            </a:r>
            <a:endParaRPr lang="zh-CN" altLang="en-US" sz="120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261980" y="3090741"/>
            <a:ext cx="2093677" cy="137343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6261980" y="3090741"/>
            <a:ext cx="1166577" cy="9372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7100466" y="3184012"/>
            <a:ext cx="328091" cy="52760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6548048" y="3664803"/>
            <a:ext cx="53092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父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7420967" y="3184012"/>
            <a:ext cx="188289" cy="527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7091720" y="3313788"/>
            <a:ext cx="33683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子</a:t>
            </a:r>
            <a:endParaRPr lang="zh-CN" altLang="en-US" sz="120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26765" y="1159973"/>
            <a:ext cx="8090472" cy="156417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523617" y="2994259"/>
            <a:ext cx="8090472" cy="156417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1" grpId="0"/>
      <p:bldP spid="33" grpId="0" animBg="1"/>
      <p:bldP spid="2" grpId="0" animBg="1"/>
      <p:bldP spid="7" grpId="0" animBg="1"/>
      <p:bldP spid="35" grpId="0"/>
      <p:bldP spid="37" grpId="0"/>
      <p:bldP spid="38" grpId="0" animBg="1"/>
      <p:bldP spid="39" grpId="0" animBg="1"/>
      <p:bldP spid="41" grpId="0" animBg="1"/>
      <p:bldP spid="42" grpId="0"/>
      <p:bldP spid="45" grpId="0"/>
      <p:bldP spid="49" grpId="0" animBg="1"/>
      <p:bldP spid="50" grpId="0" animBg="1"/>
      <p:bldP spid="52" grpId="0" animBg="1"/>
      <p:bldP spid="53" grpId="0"/>
      <p:bldP spid="58" grpId="0" animBg="1"/>
      <p:bldP spid="54" grpId="0"/>
      <p:bldP spid="59" grpId="0" animBg="1"/>
      <p:bldP spid="6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电机应用控制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4" name="矩形 39"/>
          <p:cNvSpPr>
            <a:spLocks noChangeArrowheads="1"/>
          </p:cNvSpPr>
          <p:nvPr/>
        </p:nvSpPr>
        <p:spPr bwMode="auto">
          <a:xfrm>
            <a:off x="3069907" y="1957364"/>
            <a:ext cx="3004185" cy="137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2.1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 基础对象简介</a:t>
            </a:r>
            <a:endParaRPr lang="en-US" altLang="zh-CN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2.2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父和子对象的关系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2.3  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部件的基本属性</a:t>
            </a:r>
            <a:endParaRPr lang="en-US" altLang="zh-CN" sz="2000" b="1">
              <a:solidFill>
                <a:srgbClr val="FF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578" y="466454"/>
            <a:ext cx="402336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基础对象（掌握）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65601" y="4835727"/>
            <a:ext cx="485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611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2.3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部件的基本属性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83325" y="1370144"/>
            <a:ext cx="167940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大小（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size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820973" y="160463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983325" y="1879705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位置（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position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83325" y="289882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样式（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styles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820973" y="210965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820973" y="31196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983325" y="340838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events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820973" y="362468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3647482" y="1294878"/>
            <a:ext cx="4604762" cy="27617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4410075" y="2378859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ea typeface="思源黑体 CN Normal" panose="020B0400000000000000"/>
              </a:rPr>
              <a:t>手动</a:t>
            </a:r>
            <a:endParaRPr lang="zh-CN" altLang="en-US" sz="1600">
              <a:solidFill>
                <a:schemeClr val="bg1"/>
              </a:solidFill>
              <a:ea typeface="思源黑体 CN Normal" panose="020B040000000000000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5495419" y="1987701"/>
            <a:ext cx="958850" cy="1316096"/>
          </a:xfrm>
          <a:prstGeom prst="roundRect">
            <a:avLst/>
          </a:prstGeom>
          <a:solidFill>
            <a:srgbClr val="FF6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>
                    <a:lumMod val="95000"/>
                  </a:schemeClr>
                </a:solidFill>
                <a:ea typeface="思源黑体 CN Normal" panose="020B0400000000000000"/>
              </a:rPr>
              <a:t>急停</a:t>
            </a:r>
            <a:endParaRPr lang="zh-CN" altLang="en-US" sz="1600">
              <a:solidFill>
                <a:schemeClr val="bg1">
                  <a:lumMod val="95000"/>
                </a:schemeClr>
              </a:solidFill>
              <a:ea typeface="思源黑体 CN Normal" panose="020B0400000000000000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6580763" y="2383706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ea typeface="思源黑体 CN Normal" panose="020B0400000000000000"/>
              </a:rPr>
              <a:t>自动</a:t>
            </a:r>
            <a:endParaRPr lang="zh-CN" altLang="en-US" sz="1600">
              <a:ea typeface="思源黑体 CN Normal" panose="020B040000000000000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983325" y="2389266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对齐（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alignment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820973" y="261466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32" grpId="0"/>
      <p:bldP spid="34" grpId="0"/>
      <p:bldP spid="36" grpId="0" animBg="1"/>
      <p:bldP spid="40" grpId="0" animBg="1"/>
      <p:bldP spid="43" grpId="0"/>
      <p:bldP spid="44" grpId="0" animBg="1"/>
      <p:bldP spid="46" grpId="0" animBg="1"/>
      <p:bldP spid="3" grpId="0" animBg="1"/>
      <p:bldP spid="48" grpId="0" animBg="1"/>
      <p:bldP spid="51" grpId="0" animBg="1"/>
      <p:bldP spid="55" grpId="0"/>
      <p:bldP spid="5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16840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大小（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size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010475" y="838522"/>
            <a:ext cx="29458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部件大小（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size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）相关参数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298700" y="1463996"/>
            <a:ext cx="4451350" cy="29302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476751" y="2280260"/>
            <a:ext cx="2289049" cy="15978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3241264" y="2282641"/>
            <a:ext cx="0" cy="1595420"/>
          </a:xfrm>
          <a:prstGeom prst="straightConnector1">
            <a:avLst/>
          </a:prstGeom>
          <a:ln>
            <a:solidFill>
              <a:srgbClr val="00206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3038064" y="2282641"/>
            <a:ext cx="438687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3040304" y="3875680"/>
            <a:ext cx="438687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3476751" y="1962943"/>
            <a:ext cx="0" cy="32446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V="1">
            <a:off x="5763419" y="1960561"/>
            <a:ext cx="0" cy="32446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3479515" y="2092141"/>
            <a:ext cx="2286285" cy="0"/>
          </a:xfrm>
          <a:prstGeom prst="straightConnector1">
            <a:avLst/>
          </a:prstGeom>
          <a:ln>
            <a:solidFill>
              <a:srgbClr val="00206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2654783" y="2823111"/>
            <a:ext cx="602624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高度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4318773" y="1673950"/>
            <a:ext cx="602624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宽度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7" grpId="0" animBg="1"/>
      <p:bldP spid="2" grpId="0" animBg="1"/>
      <p:bldP spid="49" grpId="0"/>
      <p:bldP spid="5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16205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大小（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size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37076" y="1165538"/>
            <a:ext cx="393492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部件大小（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size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）设置相关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API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函数：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94425" y="2005144"/>
            <a:ext cx="453482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设置宽度：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lv_obj_set_width(obj, new_width);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732073" y="221423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894425" y="2556372"/>
            <a:ext cx="453482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设置高度：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lv_obj_set_height(obj, new_height);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732073" y="276546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94425" y="3116293"/>
            <a:ext cx="668112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同时设置宽度、高度：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lv_obj_set_size(obj, new_width, new_height);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32073" y="332538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1" grpId="0"/>
      <p:bldP spid="22" grpId="0" animBg="1"/>
      <p:bldP spid="23" grpId="0"/>
      <p:bldP spid="24" grpId="0" animBg="1"/>
      <p:bldP spid="25" grpId="0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611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2.3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部件的基本属性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83325" y="1370144"/>
            <a:ext cx="167940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大小（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size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820973" y="160463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983325" y="1879705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位置（</a:t>
            </a:r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position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83325" y="289882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样式（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styles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820973" y="210965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820973" y="31196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983325" y="340838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events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820973" y="362468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3647482" y="1294878"/>
            <a:ext cx="4604762" cy="27617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4410075" y="2378859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ea typeface="思源黑体 CN Normal" panose="020B0400000000000000"/>
              </a:rPr>
              <a:t>手动</a:t>
            </a:r>
            <a:endParaRPr lang="zh-CN" altLang="en-US" sz="1600">
              <a:solidFill>
                <a:schemeClr val="bg1"/>
              </a:solidFill>
              <a:ea typeface="思源黑体 CN Normal" panose="020B040000000000000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5495419" y="1987701"/>
            <a:ext cx="958850" cy="1316096"/>
          </a:xfrm>
          <a:prstGeom prst="roundRect">
            <a:avLst/>
          </a:prstGeom>
          <a:solidFill>
            <a:srgbClr val="FF6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>
                    <a:lumMod val="95000"/>
                  </a:schemeClr>
                </a:solidFill>
                <a:ea typeface="思源黑体 CN Normal" panose="020B0400000000000000"/>
              </a:rPr>
              <a:t>急停</a:t>
            </a:r>
            <a:endParaRPr lang="zh-CN" altLang="en-US" sz="1600">
              <a:solidFill>
                <a:schemeClr val="bg1">
                  <a:lumMod val="95000"/>
                </a:schemeClr>
              </a:solidFill>
              <a:ea typeface="思源黑体 CN Normal" panose="020B0400000000000000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6580763" y="2383706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ea typeface="思源黑体 CN Normal" panose="020B0400000000000000"/>
              </a:rPr>
              <a:t>自动</a:t>
            </a:r>
            <a:endParaRPr lang="zh-CN" altLang="en-US" sz="1600">
              <a:ea typeface="思源黑体 CN Normal" panose="020B040000000000000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983325" y="2389266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对齐（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alignment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820973" y="261466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32" grpId="0"/>
      <p:bldP spid="34" grpId="0"/>
      <p:bldP spid="36" grpId="0" animBg="1"/>
      <p:bldP spid="40" grpId="0" animBg="1"/>
      <p:bldP spid="43" grpId="0"/>
      <p:bldP spid="44" grpId="0" animBg="1"/>
      <p:bldP spid="46" grpId="0" animBg="1"/>
      <p:bldP spid="3" grpId="0" animBg="1"/>
      <p:bldP spid="48" grpId="0" animBg="1"/>
      <p:bldP spid="51" grpId="0" animBg="1"/>
      <p:bldP spid="55" grpId="0"/>
      <p:bldP spid="5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611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位置（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position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603912" y="915666"/>
            <a:ext cx="16758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LVGL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屏幕坐标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209800" y="1572545"/>
            <a:ext cx="4464050" cy="2593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453911" y="1216056"/>
            <a:ext cx="734832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0,0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34318" y="4026970"/>
            <a:ext cx="1306332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799,479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842634" y="2650543"/>
            <a:ext cx="1306332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800 × 480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790803" y="1176602"/>
            <a:ext cx="43638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X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861434" y="4033320"/>
            <a:ext cx="44907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Y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2209800" y="1572545"/>
            <a:ext cx="0" cy="3088355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2200367" y="1574926"/>
            <a:ext cx="5102133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椭圆 29"/>
          <p:cNvSpPr/>
          <p:nvPr/>
        </p:nvSpPr>
        <p:spPr>
          <a:xfrm>
            <a:off x="2175068" y="1539418"/>
            <a:ext cx="81280" cy="8281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6" grpId="0" animBg="1"/>
      <p:bldP spid="17" grpId="0"/>
      <p:bldP spid="18" grpId="0"/>
      <p:bldP spid="19" grpId="0"/>
      <p:bldP spid="20" grpId="0"/>
      <p:bldP spid="27" grpId="0"/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230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位置（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position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845375" y="743272"/>
            <a:ext cx="346017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部件位置（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position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）相关参数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298700" y="1394146"/>
            <a:ext cx="4438650" cy="268649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478394" y="2214762"/>
            <a:ext cx="1990598" cy="12519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2060"/>
              </a:solidFill>
              <a:ea typeface="思源黑体 CN Normal" panose="020B040000000000000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3327962" y="2123426"/>
            <a:ext cx="98226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X,Y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092641" y="4222869"/>
            <a:ext cx="495871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注意：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设置部件位置时，坐标原点在父对象的左上角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661722" y="1141474"/>
            <a:ext cx="617206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原点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2296932" y="2214762"/>
            <a:ext cx="1181462" cy="0"/>
          </a:xfrm>
          <a:prstGeom prst="line">
            <a:avLst/>
          </a:prstGeom>
          <a:ln w="9525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V="1">
            <a:off x="3478394" y="1394146"/>
            <a:ext cx="0" cy="820616"/>
          </a:xfrm>
          <a:prstGeom prst="line">
            <a:avLst/>
          </a:prstGeom>
          <a:ln w="9525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椭圆 29"/>
          <p:cNvSpPr/>
          <p:nvPr/>
        </p:nvSpPr>
        <p:spPr>
          <a:xfrm>
            <a:off x="2264219" y="1364573"/>
            <a:ext cx="81280" cy="8281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121054" y="2601884"/>
            <a:ext cx="7939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部件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7" grpId="0" animBg="1"/>
      <p:bldP spid="2" grpId="0" animBg="1"/>
      <p:bldP spid="50" grpId="0"/>
      <p:bldP spid="25" grpId="0"/>
      <p:bldP spid="26" grpId="0"/>
      <p:bldP spid="30" grpId="0" animBg="1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611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位置（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position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10751" y="1176538"/>
            <a:ext cx="439305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部件位置（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position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）设置相关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API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函数：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94425" y="2125794"/>
            <a:ext cx="453482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X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轴坐标：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lv_obj_set_x(obj, new_x);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732073" y="233488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894425" y="2677022"/>
            <a:ext cx="453482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Y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轴坐标：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lv_obj_set_y(obj, new_y);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732073" y="288611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94425" y="3236943"/>
            <a:ext cx="589533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同时设置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X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Y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轴坐标：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lv_obj_set_pos(obj, new_x, new_y);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32073" y="344603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1" grpId="0"/>
      <p:bldP spid="22" grpId="0" animBg="1"/>
      <p:bldP spid="23" grpId="0"/>
      <p:bldP spid="24" grpId="0" animBg="1"/>
      <p:bldP spid="25" grpId="0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611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2.3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部件的基本属性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83325" y="1370144"/>
            <a:ext cx="167940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大小（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size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820973" y="160463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983325" y="1879705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位置（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position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83325" y="289882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样式（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styles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820973" y="210965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820973" y="31196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983325" y="340838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events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820973" y="362468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3647482" y="1294878"/>
            <a:ext cx="4604762" cy="27617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4410075" y="2378859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ea typeface="思源黑体 CN Normal" panose="020B0400000000000000"/>
              </a:rPr>
              <a:t>手动</a:t>
            </a:r>
            <a:endParaRPr lang="zh-CN" altLang="en-US" sz="1600">
              <a:solidFill>
                <a:schemeClr val="bg1"/>
              </a:solidFill>
              <a:ea typeface="思源黑体 CN Normal" panose="020B040000000000000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5495419" y="1987701"/>
            <a:ext cx="958850" cy="1316096"/>
          </a:xfrm>
          <a:prstGeom prst="roundRect">
            <a:avLst/>
          </a:prstGeom>
          <a:solidFill>
            <a:srgbClr val="FF6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>
                    <a:lumMod val="95000"/>
                  </a:schemeClr>
                </a:solidFill>
                <a:ea typeface="思源黑体 CN Normal" panose="020B0400000000000000"/>
              </a:rPr>
              <a:t>急停</a:t>
            </a:r>
            <a:endParaRPr lang="zh-CN" altLang="en-US" sz="1600">
              <a:solidFill>
                <a:schemeClr val="bg1">
                  <a:lumMod val="95000"/>
                </a:schemeClr>
              </a:solidFill>
              <a:ea typeface="思源黑体 CN Normal" panose="020B0400000000000000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6580763" y="2383706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ea typeface="思源黑体 CN Normal" panose="020B0400000000000000"/>
              </a:rPr>
              <a:t>自动</a:t>
            </a:r>
            <a:endParaRPr lang="zh-CN" altLang="en-US" sz="1600">
              <a:ea typeface="思源黑体 CN Normal" panose="020B040000000000000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983325" y="2389266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对齐（</a:t>
            </a:r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alignment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820973" y="261466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32" grpId="0"/>
      <p:bldP spid="34" grpId="0"/>
      <p:bldP spid="36" grpId="0" animBg="1"/>
      <p:bldP spid="40" grpId="0" animBg="1"/>
      <p:bldP spid="43" grpId="0"/>
      <p:bldP spid="44" grpId="0" animBg="1"/>
      <p:bldP spid="46" grpId="0" animBg="1"/>
      <p:bldP spid="3" grpId="0" animBg="1"/>
      <p:bldP spid="48" grpId="0" animBg="1"/>
      <p:bldP spid="51" grpId="0" animBg="1"/>
      <p:bldP spid="55" grpId="0"/>
      <p:bldP spid="5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623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对齐（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alignment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437859" y="1432346"/>
            <a:ext cx="204829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 参照父对象对齐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38200" y="2093601"/>
            <a:ext cx="3194050" cy="18507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727876" y="2602158"/>
            <a:ext cx="1284106" cy="8332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ea typeface="思源黑体 CN Normal" panose="020B040000000000000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98804" y="1438795"/>
            <a:ext cx="33373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 参照其他对象对齐（无父子关系）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870450" y="2093601"/>
            <a:ext cx="3194050" cy="18507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239841" y="2228211"/>
            <a:ext cx="1099191" cy="68487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ea typeface="思源黑体 CN Normal" panose="020B0400000000000000"/>
              </a:rPr>
              <a:t>A</a:t>
            </a:r>
            <a:endParaRPr lang="zh-CN" altLang="en-US" sz="1600">
              <a:ea typeface="思源黑体 CN Normal" panose="020B040000000000000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813630" y="2363882"/>
            <a:ext cx="850095" cy="4157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  <a:endParaRPr lang="zh-CN" altLang="en-US" sz="1600"/>
          </a:p>
        </p:txBody>
      </p:sp>
      <p:sp>
        <p:nvSpPr>
          <p:cNvPr id="16" name="文本框 15"/>
          <p:cNvSpPr txBox="1"/>
          <p:nvPr/>
        </p:nvSpPr>
        <p:spPr>
          <a:xfrm>
            <a:off x="5392183" y="3524952"/>
            <a:ext cx="93644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基准对象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5785763" y="2913090"/>
            <a:ext cx="0" cy="620937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6618347" y="3524951"/>
            <a:ext cx="147161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需要对齐的对象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7236738" y="2773267"/>
            <a:ext cx="0" cy="729945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2032630" y="2886627"/>
            <a:ext cx="72539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子对象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162930" y="3524951"/>
            <a:ext cx="72539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父对象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7" grpId="0" animBg="1"/>
      <p:bldP spid="2" grpId="0" animBg="1"/>
      <p:bldP spid="18" grpId="0"/>
      <p:bldP spid="19" grpId="0" animBg="1"/>
      <p:bldP spid="20" grpId="0" animBg="1"/>
      <p:bldP spid="21" grpId="0" animBg="1"/>
      <p:bldP spid="16" grpId="0"/>
      <p:bldP spid="22" grpId="0"/>
      <p:bldP spid="23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611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对齐（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alignment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74207" y="1242937"/>
            <a:ext cx="2714061" cy="659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参照父对象对齐：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lv_obj_set_align(obj, LV_ALIGN_...);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97365" y="142112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74207" y="1975541"/>
            <a:ext cx="2768254" cy="659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参照父对象对齐，再进行偏移：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lv_obj_align(obj, LV_ALIGN_..., x, y);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97365" y="215965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85211" y="3199634"/>
            <a:ext cx="4580510" cy="659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参照其他对象对齐（无父子关系），再进行偏移：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lv_obj_align_to(obj_to_align, obj_referece, LV_ALIGN_..., x, y);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697365" y="338119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5" name="矩形 24"/>
          <p:cNvSpPr/>
          <p:nvPr/>
        </p:nvSpPr>
        <p:spPr>
          <a:xfrm>
            <a:off x="506446" y="1159974"/>
            <a:ext cx="8090472" cy="16178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5655733" y="1283998"/>
            <a:ext cx="2399242" cy="1356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6444633" y="1626960"/>
            <a:ext cx="821442" cy="6106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ea typeface="思源黑体 CN Normal" panose="020B0400000000000000"/>
              </a:rPr>
              <a:t>子对象</a:t>
            </a:r>
            <a:endParaRPr lang="zh-CN" altLang="en-US" sz="1200">
              <a:ea typeface="思源黑体 CN Normal" panose="020B040000000000000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06446" y="3013759"/>
            <a:ext cx="8090472" cy="164876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5655733" y="3151141"/>
            <a:ext cx="2399242" cy="1356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5866121" y="3281373"/>
            <a:ext cx="767514" cy="5019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ea typeface="思源黑体 CN Normal" panose="020B0400000000000000"/>
              </a:rPr>
              <a:t>A</a:t>
            </a:r>
            <a:endParaRPr lang="zh-CN" altLang="en-US">
              <a:ea typeface="思源黑体 CN Normal" panose="020B040000000000000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059491" y="3380143"/>
            <a:ext cx="593582" cy="3046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5849143" y="4058143"/>
            <a:ext cx="86069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基准对象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V="1">
            <a:off x="6233198" y="3789872"/>
            <a:ext cx="0" cy="270953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6741585" y="4058142"/>
            <a:ext cx="12879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需要对齐的对象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 flipV="1">
            <a:off x="7356282" y="3722924"/>
            <a:ext cx="0" cy="34455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1916621" y="4196642"/>
            <a:ext cx="93644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基准对象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45" name="直接连接符 44"/>
          <p:cNvCxnSpPr/>
          <p:nvPr/>
        </p:nvCxnSpPr>
        <p:spPr>
          <a:xfrm flipV="1">
            <a:off x="2326077" y="3823323"/>
            <a:ext cx="0" cy="376001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2811179" y="4196641"/>
            <a:ext cx="12879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需要对齐的对象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48" name="直接连接符 47"/>
          <p:cNvCxnSpPr/>
          <p:nvPr/>
        </p:nvCxnSpPr>
        <p:spPr>
          <a:xfrm flipV="1">
            <a:off x="3421309" y="3841373"/>
            <a:ext cx="0" cy="376001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18" grpId="0"/>
      <p:bldP spid="19" grpId="0" animBg="1"/>
      <p:bldP spid="20" grpId="0"/>
      <p:bldP spid="21" grpId="0" animBg="1"/>
      <p:bldP spid="25" grpId="0" animBg="1"/>
      <p:bldP spid="26" grpId="0" animBg="1"/>
      <p:bldP spid="27" grpId="0" animBg="1"/>
      <p:bldP spid="29" grpId="0" animBg="1"/>
      <p:bldP spid="37" grpId="0" animBg="1"/>
      <p:bldP spid="38" grpId="0" animBg="1"/>
      <p:bldP spid="39" grpId="0" animBg="1"/>
      <p:bldP spid="40" grpId="0"/>
      <p:bldP spid="42" grpId="0"/>
      <p:bldP spid="44" grpId="0"/>
      <p:bldP spid="4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1667886" y="4275880"/>
            <a:ext cx="1981579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OUT_BOTTOM_LEFT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649465" y="4287822"/>
            <a:ext cx="1750005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OUT_BOTTOM_MID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494535" y="4289539"/>
            <a:ext cx="1981579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OUT_BOTTOM_RIGHT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1599308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对齐的模式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713792" y="1418811"/>
            <a:ext cx="5521489" cy="2837261"/>
          </a:xfrm>
          <a:prstGeom prst="roundRect">
            <a:avLst>
              <a:gd name="adj" fmla="val 2567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44183" y="1423553"/>
            <a:ext cx="1371917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OUT_LEFT_TOP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17350" y="2625558"/>
            <a:ext cx="1287183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OUT_LEFT_MID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9220" y="3808708"/>
            <a:ext cx="1717605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OUT_LEFT_BOTTOM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213600" y="1446818"/>
            <a:ext cx="1504061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OUT_RIGHT_TOP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213600" y="2625558"/>
            <a:ext cx="1557728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OUT_RIGHT_MID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213600" y="3808708"/>
            <a:ext cx="182961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OUT_RIGHT_BOTTOM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667886" y="1027128"/>
            <a:ext cx="1371917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OUT_TOP_LEFT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712586" y="1027128"/>
            <a:ext cx="143726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OUT_TOP_MID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822633" y="1027128"/>
            <a:ext cx="1504061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OUT_TOP_RIGHT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839525" y="1431046"/>
            <a:ext cx="954475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TOP_LEFT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908634" y="1446817"/>
            <a:ext cx="954475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TOP_MID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068095" y="1445101"/>
            <a:ext cx="114013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TOP_RIGHT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120273" y="2625558"/>
            <a:ext cx="1067117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RIGHT_MID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16100" y="2625558"/>
            <a:ext cx="954475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LEFT_MID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816100" y="3808708"/>
            <a:ext cx="132734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BOTTOM_LEFT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790039" y="3808708"/>
            <a:ext cx="1454948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BOTTOM_RIGHT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844171" y="3808708"/>
            <a:ext cx="130228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BOTTOM_MID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019056" y="2625558"/>
            <a:ext cx="844053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CENTER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7" grpId="0" animBg="1"/>
      <p:bldP spid="20" grpId="0"/>
      <p:bldP spid="21" grpId="0"/>
      <p:bldP spid="22" grpId="0"/>
      <p:bldP spid="23" grpId="0"/>
      <p:bldP spid="24" grpId="0"/>
      <p:bldP spid="28" grpId="0"/>
      <p:bldP spid="34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611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2.3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部件的基本属性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83325" y="1370144"/>
            <a:ext cx="167940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大小（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size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820973" y="160463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983325" y="1879705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位置（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position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83325" y="289882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样式（</a:t>
            </a:r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styles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820973" y="210965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820973" y="31196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983325" y="340838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events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820973" y="362468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3647482" y="1294878"/>
            <a:ext cx="4604762" cy="27617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4410075" y="2378859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ea typeface="思源黑体 CN Normal" panose="020B0400000000000000"/>
              </a:rPr>
              <a:t>手动</a:t>
            </a:r>
            <a:endParaRPr lang="zh-CN" altLang="en-US" sz="1600">
              <a:solidFill>
                <a:schemeClr val="bg1"/>
              </a:solidFill>
              <a:ea typeface="思源黑体 CN Normal" panose="020B040000000000000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5495419" y="1987701"/>
            <a:ext cx="958850" cy="1316096"/>
          </a:xfrm>
          <a:prstGeom prst="roundRect">
            <a:avLst/>
          </a:prstGeom>
          <a:solidFill>
            <a:srgbClr val="FF6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>
                    <a:lumMod val="95000"/>
                  </a:schemeClr>
                </a:solidFill>
                <a:ea typeface="思源黑体 CN Normal" panose="020B0400000000000000"/>
              </a:rPr>
              <a:t>急停</a:t>
            </a:r>
            <a:endParaRPr lang="zh-CN" altLang="en-US" sz="1600">
              <a:solidFill>
                <a:schemeClr val="bg1">
                  <a:lumMod val="95000"/>
                </a:schemeClr>
              </a:solidFill>
              <a:ea typeface="思源黑体 CN Normal" panose="020B0400000000000000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6580763" y="2383706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ea typeface="思源黑体 CN Normal" panose="020B0400000000000000"/>
              </a:rPr>
              <a:t>自动</a:t>
            </a:r>
            <a:endParaRPr lang="zh-CN" altLang="en-US" sz="1600">
              <a:ea typeface="思源黑体 CN Normal" panose="020B040000000000000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983325" y="2389266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对齐（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alignment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820973" y="261466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32" grpId="0"/>
      <p:bldP spid="34" grpId="0"/>
      <p:bldP spid="36" grpId="0" animBg="1"/>
      <p:bldP spid="40" grpId="0" animBg="1"/>
      <p:bldP spid="43" grpId="0"/>
      <p:bldP spid="44" grpId="0" animBg="1"/>
      <p:bldP spid="46" grpId="0" animBg="1"/>
      <p:bldP spid="3" grpId="0" animBg="1"/>
      <p:bldP spid="48" grpId="0" animBg="1"/>
      <p:bldP spid="51" grpId="0" animBg="1"/>
      <p:bldP spid="55" grpId="0"/>
      <p:bldP spid="5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41"/>
          <p:cNvSpPr/>
          <p:nvPr/>
        </p:nvSpPr>
        <p:spPr>
          <a:xfrm>
            <a:off x="4831673" y="2152650"/>
            <a:ext cx="3559069" cy="180104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/>
          <p:cNvSpPr/>
          <p:nvPr/>
        </p:nvSpPr>
        <p:spPr>
          <a:xfrm>
            <a:off x="650981" y="2152650"/>
            <a:ext cx="3559069" cy="180104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1861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样式（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styles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64493" y="1178391"/>
            <a:ext cx="630108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样式用于设置部件的外观，以优化显示界面和实现用户交互。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976081" y="2783098"/>
            <a:ext cx="713525" cy="450607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ea typeface="思源黑体 CN Normal" panose="020B0400000000000000"/>
              </a:rPr>
              <a:t>手动</a:t>
            </a:r>
            <a:endParaRPr lang="zh-CN" altLang="en-US" sz="1400">
              <a:solidFill>
                <a:schemeClr val="bg1"/>
              </a:solidFill>
              <a:ea typeface="思源黑体 CN Normal" panose="020B040000000000000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2061425" y="2552700"/>
            <a:ext cx="713525" cy="1030393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>
                    <a:lumMod val="95000"/>
                  </a:schemeClr>
                </a:solidFill>
                <a:ea typeface="思源黑体 CN Normal" panose="020B0400000000000000"/>
              </a:rPr>
              <a:t>急停</a:t>
            </a:r>
            <a:endParaRPr lang="zh-CN" altLang="en-US" sz="1400">
              <a:solidFill>
                <a:schemeClr val="bg1">
                  <a:lumMod val="95000"/>
                </a:schemeClr>
              </a:solidFill>
              <a:ea typeface="思源黑体 CN Normal" panose="020B0400000000000000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3146769" y="2787945"/>
            <a:ext cx="713525" cy="450607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ea typeface="思源黑体 CN Normal" panose="020B0400000000000000"/>
              </a:rPr>
              <a:t>自动</a:t>
            </a:r>
            <a:endParaRPr lang="zh-CN" altLang="en-US" sz="1400">
              <a:ea typeface="思源黑体 CN Normal" panose="020B040000000000000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5179781" y="2827548"/>
            <a:ext cx="713525" cy="45060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ea typeface="思源黑体 CN Normal" panose="020B0400000000000000"/>
              </a:rPr>
              <a:t>手动</a:t>
            </a:r>
            <a:endParaRPr lang="zh-CN" altLang="en-US" sz="1400">
              <a:solidFill>
                <a:schemeClr val="bg1"/>
              </a:solidFill>
              <a:ea typeface="思源黑体 CN Normal" panose="020B040000000000000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6265125" y="2552700"/>
            <a:ext cx="713525" cy="1030393"/>
          </a:xfrm>
          <a:prstGeom prst="roundRect">
            <a:avLst/>
          </a:prstGeom>
          <a:solidFill>
            <a:srgbClr val="FF656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>
                    <a:lumMod val="95000"/>
                  </a:schemeClr>
                </a:solidFill>
                <a:ea typeface="思源黑体 CN Normal" panose="020B0400000000000000"/>
              </a:rPr>
              <a:t>急停</a:t>
            </a:r>
            <a:endParaRPr lang="zh-CN" altLang="en-US" sz="1400">
              <a:solidFill>
                <a:schemeClr val="bg1">
                  <a:lumMod val="95000"/>
                </a:schemeClr>
              </a:solidFill>
              <a:ea typeface="思源黑体 CN Normal" panose="020B040000000000000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7350469" y="2832395"/>
            <a:ext cx="713525" cy="45060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ea typeface="思源黑体 CN Normal" panose="020B0400000000000000"/>
              </a:rPr>
              <a:t>自动</a:t>
            </a:r>
            <a:endParaRPr lang="zh-CN" altLang="en-US" sz="1400">
              <a:ea typeface="思源黑体 CN Normal" panose="020B04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0" grpId="0" animBg="1"/>
      <p:bldP spid="29" grpId="0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1861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样式（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styles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7609" y="1660056"/>
            <a:ext cx="296269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  如何给部件添加样式？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07609" y="2239133"/>
            <a:ext cx="2878373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  什么时候样式会生效？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07609" y="2818210"/>
            <a:ext cx="303889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  有哪些样式属性可以设置？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07609" y="3397286"/>
            <a:ext cx="40358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④  如何单独设置部件中某个部分的样式？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781" y="1907687"/>
            <a:ext cx="1848921" cy="16857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2" grpId="0"/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1861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样式（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styles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230270" y="510351"/>
            <a:ext cx="249743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如何给部件添加样式？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9585" y="1139030"/>
            <a:ext cx="160231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添加普通样式：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807932" y="132000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0" name="文本框 19"/>
          <p:cNvSpPr txBox="1"/>
          <p:nvPr/>
        </p:nvSpPr>
        <p:spPr>
          <a:xfrm>
            <a:off x="999489" y="1565603"/>
            <a:ext cx="7211061" cy="16293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static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lv_style_t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style; 		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定义样式变量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lv_style_init(&amp;style); 		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初始化样式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lv_style_set_bg_color(&amp;style, lv_color_hex(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0xf4b183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)); 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设置背景颜色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 obj = lv_obj_create(lv_scr_act()); 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创建一个部件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lv_obj_add_style(obj, &amp; style, LV_STATE_DEFAULT); 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设置部件的样式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zh-CN" altLang="en-US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9585" y="3363554"/>
            <a:ext cx="160231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添加本地样式：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807932" y="354453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6" name="文本框 25"/>
          <p:cNvSpPr txBox="1"/>
          <p:nvPr/>
        </p:nvSpPr>
        <p:spPr>
          <a:xfrm>
            <a:off x="999489" y="4043492"/>
            <a:ext cx="7211061" cy="6136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 obj = lv_obj_create(lv_scr_act()); 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创建一个部件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lv_obj_set_style_bg_color(obj, lv_color_hex(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0xf4b183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),LV_STATE_DEFAULT);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设置部件的样式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zh-CN" altLang="en-US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8" grpId="0"/>
      <p:bldP spid="19" grpId="0" animBg="1"/>
      <p:bldP spid="20" grpId="0" animBg="1"/>
      <p:bldP spid="24" grpId="0"/>
      <p:bldP spid="25" grpId="0" animBg="1"/>
      <p:bldP spid="26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1861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样式（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styles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349728" y="852150"/>
            <a:ext cx="244454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什么时候样式会生效？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67346" y="1597647"/>
            <a:ext cx="8209307" cy="2893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00FF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enum 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{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LV_STATE_DEFAULT  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0x0000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默认状态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LV_STATE_CHECKED  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0x0001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 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切换或选中状态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LV_STATE_FOCUSED  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0x0002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 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通过键盘、编码器聚焦或通过触摸板、鼠标单击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LV_STATE_FOCUS_KEY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0x0004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 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通过键盘、编码器聚焦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LV_STATE_EDITED   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0x0008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 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由编码器编辑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LV_STATE_HOVERED  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0x0010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 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鼠标悬停（现在不支持）*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LV_STATE_PRESSED  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0x0020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 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已按下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LV_STATE_SCROLLED 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0x0040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 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滚动状态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LV_STATE_DISABLED 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0x0080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 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禁用状态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…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};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1861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样式（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styles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143901" y="1078282"/>
            <a:ext cx="291018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有哪些样式属性可以设置？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374649" y="2170636"/>
            <a:ext cx="1091881" cy="13144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94357" y="2412696"/>
            <a:ext cx="68199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大小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40394" y="2885774"/>
            <a:ext cx="5899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Size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1596921" y="2170636"/>
            <a:ext cx="1091881" cy="13144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822979" y="2412696"/>
            <a:ext cx="68199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位置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705608" y="2885774"/>
            <a:ext cx="95567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Position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4041465" y="2178056"/>
            <a:ext cx="1091881" cy="13144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4261173" y="2412696"/>
            <a:ext cx="68199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轮廓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191011" y="2885774"/>
            <a:ext cx="98488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Outline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2819193" y="2196457"/>
            <a:ext cx="1091881" cy="13144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3045251" y="2412696"/>
            <a:ext cx="68199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背景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761305" y="2885774"/>
            <a:ext cx="126619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Background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5263737" y="2179875"/>
            <a:ext cx="1091881" cy="13144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5496145" y="2412696"/>
            <a:ext cx="68199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边框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451490" y="2885774"/>
            <a:ext cx="86024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Border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6486009" y="2179875"/>
            <a:ext cx="1091881" cy="13144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705717" y="2412696"/>
            <a:ext cx="68199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阴影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613541" y="2885774"/>
            <a:ext cx="89481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Shadow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7708282" y="2178056"/>
            <a:ext cx="1091881" cy="13144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7948292" y="2412696"/>
            <a:ext cx="68199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其它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896238" y="2885774"/>
            <a:ext cx="83690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Others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" grpId="0" animBg="1"/>
      <p:bldP spid="17" grpId="0"/>
      <p:bldP spid="21" grpId="0"/>
      <p:bldP spid="22" grpId="0" animBg="1"/>
      <p:bldP spid="23" grpId="0"/>
      <p:bldP spid="27" grpId="0"/>
      <p:bldP spid="28" grpId="0" animBg="1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/>
          <p:cNvSpPr txBox="1"/>
          <p:nvPr/>
        </p:nvSpPr>
        <p:spPr>
          <a:xfrm>
            <a:off x="719447" y="2085235"/>
            <a:ext cx="7669507" cy="2462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00FF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enum 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{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LV_PART_MAIN		=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0x000000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	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	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主体，像矩形一样的背景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LV_PART_SCROLLBAR	=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0x010000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	 	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滚动条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LV_PART_INDICATOR	=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0x020000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	 	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指示器，指示当前值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LV_PART_KNOB		=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0x030000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 	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手柄或旋钮，用于调整参数值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LV_PART_SELECTED	=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0x040000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	 	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选项框，指示当前选择的选项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LV_PART_ITEMS		=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0x050000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	 	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相似的元素，例如单元格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LV_PART_TICKS		=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0x060000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	 	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刻度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LV_PART_CURSOR		=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0x070000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	 	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光标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};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6268230" y="1571887"/>
            <a:ext cx="1832619" cy="17476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1861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样式（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styles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06863" y="1179852"/>
            <a:ext cx="404802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如何单独设置部件中某个部分的样式？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5407163" y="1571887"/>
            <a:ext cx="1053612" cy="1747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276932" y="1501453"/>
            <a:ext cx="321955" cy="31397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7586522" y="1358516"/>
            <a:ext cx="258487" cy="26417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7836278" y="1360899"/>
            <a:ext cx="50038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7805416" y="1000809"/>
            <a:ext cx="58353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H="1" flipV="1">
            <a:off x="5691783" y="1358516"/>
            <a:ext cx="258487" cy="26417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5201028" y="1360899"/>
            <a:ext cx="50038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5125716" y="1000809"/>
            <a:ext cx="73975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指示器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6408979" y="1358516"/>
            <a:ext cx="258487" cy="26417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6658735" y="1360899"/>
            <a:ext cx="50038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6634223" y="1000809"/>
            <a:ext cx="58353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手柄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14" grpId="0" animBg="1"/>
      <p:bldP spid="29" grpId="0"/>
      <p:bldP spid="3" grpId="0" animBg="1"/>
      <p:bldP spid="7" grpId="0" animBg="1"/>
      <p:bldP spid="26" grpId="0"/>
      <p:bldP spid="30" grpId="0"/>
      <p:bldP spid="3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611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2.3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部件的基本属性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83325" y="1370144"/>
            <a:ext cx="167940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大小（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size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820973" y="160463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983325" y="1879705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位置（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position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83325" y="289882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样式（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styles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820973" y="210965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820973" y="31196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983325" y="340838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事件（</a:t>
            </a:r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events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820973" y="362468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3647482" y="1294878"/>
            <a:ext cx="4604762" cy="27617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4410075" y="2378859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ea typeface="思源黑体 CN Normal" panose="020B0400000000000000"/>
              </a:rPr>
              <a:t>手动</a:t>
            </a:r>
            <a:endParaRPr lang="zh-CN" altLang="en-US" sz="1600">
              <a:solidFill>
                <a:schemeClr val="bg1"/>
              </a:solidFill>
              <a:ea typeface="思源黑体 CN Normal" panose="020B040000000000000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5495419" y="1987701"/>
            <a:ext cx="958850" cy="1316096"/>
          </a:xfrm>
          <a:prstGeom prst="roundRect">
            <a:avLst/>
          </a:prstGeom>
          <a:solidFill>
            <a:srgbClr val="FF6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>
                    <a:lumMod val="95000"/>
                  </a:schemeClr>
                </a:solidFill>
                <a:ea typeface="思源黑体 CN Normal" panose="020B0400000000000000"/>
              </a:rPr>
              <a:t>急停</a:t>
            </a:r>
            <a:endParaRPr lang="zh-CN" altLang="en-US" sz="1600">
              <a:solidFill>
                <a:schemeClr val="bg1">
                  <a:lumMod val="95000"/>
                </a:schemeClr>
              </a:solidFill>
              <a:ea typeface="思源黑体 CN Normal" panose="020B0400000000000000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6580763" y="2383706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ea typeface="思源黑体 CN Normal" panose="020B0400000000000000"/>
              </a:rPr>
              <a:t>自动</a:t>
            </a:r>
            <a:endParaRPr lang="zh-CN" altLang="en-US" sz="1600">
              <a:ea typeface="思源黑体 CN Normal" panose="020B040000000000000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983325" y="2389266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对齐（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alignment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820973" y="261466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32" grpId="0"/>
      <p:bldP spid="34" grpId="0"/>
      <p:bldP spid="36" grpId="0" animBg="1"/>
      <p:bldP spid="40" grpId="0" animBg="1"/>
      <p:bldP spid="43" grpId="0"/>
      <p:bldP spid="44" grpId="0" animBg="1"/>
      <p:bldP spid="46" grpId="0" animBg="1"/>
      <p:bldP spid="3" grpId="0" animBg="1"/>
      <p:bldP spid="48" grpId="0" animBg="1"/>
      <p:bldP spid="51" grpId="0" animBg="1"/>
      <p:bldP spid="55" grpId="0"/>
      <p:bldP spid="5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7" y="466454"/>
            <a:ext cx="1992847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事件（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events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64492" y="1178391"/>
            <a:ext cx="728410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LVGL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中，当发生用户感兴趣的事情时，可以触发回调事件，以执行相关的操作。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907220" y="4105329"/>
            <a:ext cx="1323107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触发回调事件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60399" y="1911351"/>
            <a:ext cx="3340101" cy="18470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/>
          <p:cNvSpPr/>
          <p:nvPr/>
        </p:nvSpPr>
        <p:spPr>
          <a:xfrm>
            <a:off x="870354" y="2570379"/>
            <a:ext cx="804883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ea typeface="思源黑体 CN Normal" panose="020B0400000000000000"/>
              </a:rPr>
              <a:t>手动</a:t>
            </a:r>
            <a:endParaRPr lang="zh-CN" altLang="en-US" sz="1600">
              <a:solidFill>
                <a:schemeClr val="bg1"/>
              </a:solidFill>
              <a:ea typeface="思源黑体 CN Normal" panose="020B040000000000000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1854098" y="2179221"/>
            <a:ext cx="958850" cy="1316096"/>
          </a:xfrm>
          <a:prstGeom prst="roundRect">
            <a:avLst/>
          </a:prstGeom>
          <a:solidFill>
            <a:srgbClr val="FF6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>
                    <a:lumMod val="95000"/>
                  </a:schemeClr>
                </a:solidFill>
                <a:ea typeface="思源黑体 CN Normal" panose="020B0400000000000000"/>
              </a:rPr>
              <a:t>急停</a:t>
            </a:r>
            <a:endParaRPr lang="zh-CN" altLang="en-US" sz="1600">
              <a:solidFill>
                <a:schemeClr val="bg1">
                  <a:lumMod val="95000"/>
                </a:schemeClr>
              </a:solidFill>
              <a:ea typeface="思源黑体 CN Normal" panose="020B040000000000000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2977542" y="2575226"/>
            <a:ext cx="804883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ea typeface="思源黑体 CN Normal" panose="020B0400000000000000"/>
              </a:rPr>
              <a:t>自动</a:t>
            </a:r>
            <a:endParaRPr lang="zh-CN" altLang="en-US" sz="1600">
              <a:ea typeface="思源黑体 CN Normal" panose="020B0400000000000000"/>
            </a:endParaRPr>
          </a:p>
        </p:txBody>
      </p:sp>
      <p:cxnSp>
        <p:nvCxnSpPr>
          <p:cNvPr id="3" name="连接符: 肘形 2"/>
          <p:cNvCxnSpPr/>
          <p:nvPr/>
        </p:nvCxnSpPr>
        <p:spPr>
          <a:xfrm>
            <a:off x="2336623" y="3498026"/>
            <a:ext cx="1440010" cy="827394"/>
          </a:xfrm>
          <a:prstGeom prst="bentConnector3">
            <a:avLst>
              <a:gd name="adj1" fmla="val -711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/>
          <p:cNvCxnSpPr/>
          <p:nvPr/>
        </p:nvCxnSpPr>
        <p:spPr>
          <a:xfrm flipV="1">
            <a:off x="5238106" y="3755380"/>
            <a:ext cx="1588144" cy="570040"/>
          </a:xfrm>
          <a:prstGeom prst="bentConnector3">
            <a:avLst>
              <a:gd name="adj1" fmla="val 10003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624" y="1911351"/>
            <a:ext cx="2899555" cy="1847066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2328844" y="3816918"/>
            <a:ext cx="565327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按下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811593" y="3816918"/>
            <a:ext cx="565327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急停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284624" y="1909163"/>
            <a:ext cx="2899555" cy="1847066"/>
          </a:xfrm>
          <a:prstGeom prst="rect">
            <a:avLst/>
          </a:prstGeom>
          <a:solidFill>
            <a:srgbClr val="F2F2F2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2" grpId="0"/>
      <p:bldP spid="27" grpId="0" animBg="1"/>
      <p:bldP spid="28" grpId="0" animBg="1"/>
      <p:bldP spid="30" grpId="0" animBg="1"/>
      <p:bldP spid="31" grpId="0" animBg="1"/>
      <p:bldP spid="49" grpId="0"/>
      <p:bldP spid="50" grpId="0"/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0015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事件（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events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36151" y="1113038"/>
            <a:ext cx="3307199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events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）相关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API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函数：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94425" y="1928944"/>
            <a:ext cx="706212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添加事件：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lv_obj_add_event_cb(obj, </a:t>
            </a:r>
            <a:r>
              <a:rPr lang="en-US" altLang="zh-CN" sz="16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event_cb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en-US" altLang="zh-CN" sz="16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event_code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user_data);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732073" y="213803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94425" y="3356991"/>
            <a:ext cx="513172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删除事件：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lv_obj_remove_event_cb(obj,  event_cb);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732073" y="356608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593414" y="2775960"/>
            <a:ext cx="96707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事件类型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6031159" y="2349500"/>
            <a:ext cx="0" cy="43200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6713778" y="2775960"/>
            <a:ext cx="96707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用户数据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7151523" y="2349500"/>
            <a:ext cx="0" cy="43200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4267209" y="2775960"/>
            <a:ext cx="126816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事件回调函数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4910796" y="2349500"/>
            <a:ext cx="0" cy="43200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1" grpId="0"/>
      <p:bldP spid="22" grpId="0" animBg="1"/>
      <p:bldP spid="16" grpId="0"/>
      <p:bldP spid="17" grpId="0" animBg="1"/>
      <p:bldP spid="18" grpId="0"/>
      <p:bldP spid="27" grpId="0"/>
      <p:bldP spid="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1861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事件（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events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252452" y="908927"/>
            <a:ext cx="463909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不同的事件类型共用一个事件回调函数怎么处理？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22016" y="1527431"/>
            <a:ext cx="7299961" cy="29497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fr-FR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static</a:t>
            </a: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fr-FR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void</a:t>
            </a: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event_cb( lv_event_t *e )</a:t>
            </a:r>
            <a:endParaRPr lang="fr-FR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{</a:t>
            </a:r>
            <a:endParaRPr lang="fr-FR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lv_event_code_t   code = lv_event_get_code(e);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第一步：获取事件类型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r>
              <a:rPr lang="en-US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if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( code == LV_EVENT_CLICKED )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第二步：判断事件类型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{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  		printf(“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事件类型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 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按下后释放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\r\n”);	 		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第三步：执行相应操作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}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r>
              <a:rPr lang="en-US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else if 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 code == LV_EVENT_LONG_PRESSED)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{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  		printf(“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事件类型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按下（长按）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\r\n”);	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}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</a:t>
            </a:r>
            <a:endParaRPr lang="zh-CN" altLang="en-US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1861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事件（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events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472422" y="929951"/>
            <a:ext cx="419914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不同的部件共用一个事件回调函数怎么处理？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22016" y="1527431"/>
            <a:ext cx="7299961" cy="29497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fr-FR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static</a:t>
            </a: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fr-FR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void</a:t>
            </a: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event_cb( lv_event_t *e )</a:t>
            </a:r>
            <a:endParaRPr lang="fr-FR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{</a:t>
            </a:r>
            <a:endParaRPr lang="fr-FR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*target = lv_event_get_target(e); 		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第一步：获取触发事件的部件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r>
              <a:rPr lang="en-US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if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( target == parent_obj )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第二步：判断触发事件的部件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{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  		printf(“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父对象触发事件 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\r\n”);	 		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第三步：执行相应操作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}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r>
              <a:rPr lang="en-US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else if 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 target == child_obj )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{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  		printf(“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子对象触发事件 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\r\n”);	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}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</a:t>
            </a:r>
            <a:endParaRPr lang="zh-CN" altLang="en-US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2947665" y="1652533"/>
            <a:ext cx="3542035" cy="183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的编程思想（了解）</a:t>
            </a:r>
            <a:endParaRPr lang="en-US" altLang="zh-CN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基础对象（掌握）</a:t>
            </a:r>
            <a:endParaRPr lang="en-US" altLang="zh-CN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部件使用（熟悉）</a:t>
            </a:r>
            <a:endParaRPr lang="zh-CN" altLang="en-US" sz="2000" b="1">
              <a:solidFill>
                <a:srgbClr val="FF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4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，课堂总结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717289" y="1853474"/>
            <a:ext cx="1877061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标签部件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717289" y="2571750"/>
            <a:ext cx="1756411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lv_label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5857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标签部件（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lv_label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1" y="1113038"/>
            <a:ext cx="645044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 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LVGL 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中，标签部件主要用于文本显示，例如标题、提示信息等。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930530" y="2705637"/>
            <a:ext cx="23215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4760129" y="288318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4943409" y="3201723"/>
            <a:ext cx="283642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滚动条（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LV_PART_SCROLLBAR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943409" y="3670691"/>
            <a:ext cx="297165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选中的文本（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LV_PART_SELECTED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4760129" y="338490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4760129" y="386122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4943409" y="2028569"/>
            <a:ext cx="1960167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标签部件组成部分：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642768" y="1799282"/>
            <a:ext cx="2621979" cy="2650798"/>
          </a:xfrm>
          <a:prstGeom prst="roundRect">
            <a:avLst>
              <a:gd name="adj" fmla="val 11557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1522184" y="2931922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User login</a:t>
            </a:r>
            <a:endParaRPr lang="zh-CN" altLang="en-US" sz="11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498392" y="2596969"/>
            <a:ext cx="981497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2">
                    <a:lumMod val="1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用户登录</a:t>
            </a:r>
            <a:endParaRPr lang="zh-CN" altLang="en-US" sz="1400">
              <a:solidFill>
                <a:schemeClr val="bg2">
                  <a:lumMod val="1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60" name="直接连接符 59"/>
          <p:cNvCxnSpPr/>
          <p:nvPr/>
        </p:nvCxnSpPr>
        <p:spPr>
          <a:xfrm>
            <a:off x="1228939" y="2974380"/>
            <a:ext cx="138430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337" y="2003172"/>
            <a:ext cx="792630" cy="632713"/>
          </a:xfrm>
          <a:prstGeom prst="rect">
            <a:avLst/>
          </a:prstGeom>
        </p:spPr>
      </p:pic>
      <p:sp>
        <p:nvSpPr>
          <p:cNvPr id="63" name="矩形: 圆角 62"/>
          <p:cNvSpPr/>
          <p:nvPr/>
        </p:nvSpPr>
        <p:spPr>
          <a:xfrm>
            <a:off x="1065601" y="3402058"/>
            <a:ext cx="1752451" cy="291368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: 圆角 63"/>
          <p:cNvSpPr/>
          <p:nvPr/>
        </p:nvSpPr>
        <p:spPr>
          <a:xfrm>
            <a:off x="1064261" y="3810313"/>
            <a:ext cx="1752451" cy="291368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1064261" y="3368474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user name</a:t>
            </a:r>
            <a:endParaRPr lang="zh-CN" altLang="en-US" sz="110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64261" y="3765271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password</a:t>
            </a:r>
            <a:endParaRPr lang="zh-CN" altLang="en-US" sz="110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1" grpId="0"/>
      <p:bldP spid="52" grpId="0"/>
      <p:bldP spid="53" grpId="0" animBg="1"/>
      <p:bldP spid="54" grpId="0" animBg="1"/>
      <p:bldP spid="55" grpId="0"/>
      <p:bldP spid="56" grpId="0" animBg="1"/>
      <p:bldP spid="57" grpId="0"/>
      <p:bldP spid="58" grpId="0"/>
      <p:bldP spid="63" grpId="0" animBg="1"/>
      <p:bldP spid="64" grpId="0" animBg="1"/>
      <p:bldP spid="65" grpId="0"/>
      <p:bldP spid="6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7" y="466454"/>
            <a:ext cx="2518835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标签部件（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lv_label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7609" y="1856481"/>
            <a:ext cx="355959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  如何创建标签部件以及设置文本？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07609" y="2496518"/>
            <a:ext cx="2626142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  如何改变文本的样式？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07609" y="3102691"/>
            <a:ext cx="4379164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  当文本长度超过部件大小的时候怎么显示？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781" y="1907687"/>
            <a:ext cx="1848921" cy="16857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49743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标签部件（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lv_label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834499" y="951789"/>
            <a:ext cx="3224477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如何创建标签部件以及设置文本？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9530" y="2030575"/>
            <a:ext cx="32800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*label  = lv_label_create(parent);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39530" y="1620677"/>
            <a:ext cx="23215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：创建标签部件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69129" y="17982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39530" y="3088950"/>
            <a:ext cx="7248770" cy="1198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 直接设置文本，存储文本的内存动态分配 ：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lv_label_set_text( label, "hallo \n lvgl");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10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 文本不存储在动态内存，而是在指定的缓冲区中（</a:t>
            </a:r>
            <a:r>
              <a:rPr lang="zh-CN" altLang="en-US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慎用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）：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lv_label_set_text_static( label,"hallo"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10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 格式化显示文本，类似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printf 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lv_label_set_text_fmt( label, “Value: %d”, 50 ) ;</a:t>
            </a:r>
            <a:endParaRPr lang="zh-CN" altLang="en-US" sz="105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39530" y="2621634"/>
            <a:ext cx="259372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：设置文本的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种方式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69129" y="27991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2" grpId="0" animBg="1"/>
      <p:bldP spid="12" grpId="0"/>
      <p:bldP spid="14" grpId="0" animBg="1"/>
      <p:bldP spid="17" grpId="0"/>
      <p:bldP spid="18" grpId="0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49743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标签部件（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lv_label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41846" y="881909"/>
            <a:ext cx="218782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如何改变文本的样式？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45880" y="1893394"/>
            <a:ext cx="6953084" cy="1206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 背景颜色：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lv_obj_set_style_bg_color( label, lv_color_hex(0xffe1d4), LV_STATE_DEFAULT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10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 字体大小：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lv_obj_set_style_text_font( label, &amp;lv_font_montserrat_30, LV_STATE_DEFAULT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10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 文本颜色：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lv_obj_set_style_text_color( label, lv_color_hex(0xf7b37b), LV_STATE_DEFAULT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39530" y="1434184"/>
            <a:ext cx="21878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：设置文本样式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69129" y="16117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88864" y="3758589"/>
            <a:ext cx="7205785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lv_label_set_recolor( label, true ); 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开启重新着色功能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lv_label_set_text( label, "hallo 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#ff0000 lvgl# 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" );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单独设置颜色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39530" y="3334929"/>
            <a:ext cx="31593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：设置个别文本的字体颜色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69129" y="351247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 animBg="1"/>
      <p:bldP spid="20" grpId="0"/>
      <p:bldP spid="21" grpId="0"/>
      <p:bldP spid="2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49743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标签部件（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lv_label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66008" y="957636"/>
            <a:ext cx="4020336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当文本长度超过部件大小的时候怎么显示？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39530" y="1459584"/>
            <a:ext cx="10384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69129" y="16371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39530" y="2360140"/>
            <a:ext cx="2010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：长文本模式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69129" y="253768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66195" y="3260301"/>
            <a:ext cx="7526905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enum 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{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LV_LABEL_LONG_WRAP,            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默认模式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如果部件大小已固定，超出的文本将被剪切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LV_LABEL_LONG_DOT,             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label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右下角的最后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个字符替换为点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…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LV_LABEL_LONG_SCROLL,          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来回滚动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LV_LABEL_LONG_SCROLL_CIRCULAR,  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循环滚动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LV_LABEL_LONG_CLIP,            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直接剪切掉部件外面的文本部分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};</a:t>
            </a:r>
            <a:endParaRPr lang="en-US" altLang="zh-CN" sz="12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59845" y="2765351"/>
            <a:ext cx="395185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lv_label_set_long_mode(label, LV_LABEL_LONG_...);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39530" y="1839593"/>
            <a:ext cx="54199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默认情况下，如果没有限定标签部件大小，那它的大小自动扩展为文本大小。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 animBg="1"/>
      <p:bldP spid="23" grpId="0"/>
      <p:bldP spid="24" grpId="0" animBg="1"/>
      <p:bldP spid="25" grpId="0" animBg="1"/>
      <p:bldP spid="26" grpId="0"/>
      <p:bldP spid="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749039" y="1854898"/>
            <a:ext cx="1877061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按钮部件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856989" y="2552700"/>
            <a:ext cx="1432561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r>
              <a:rPr lang="en-US" altLang="zh-CN" sz="2000" b="1" err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lv_btn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41131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按钮部件（</a:t>
            </a:r>
            <a:r>
              <a:rPr lang="en-US" altLang="zh-CN" sz="2000" b="1" err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lv_btn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1" y="1055888"/>
            <a:ext cx="555509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LVGL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中，按钮部件与基础对象相比，没有新增任何功能。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968630" y="3004087"/>
            <a:ext cx="23215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4798229" y="318163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4981509" y="2327019"/>
            <a:ext cx="1960167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642768" y="1672282"/>
            <a:ext cx="2621979" cy="2966664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1522184" y="2804922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User login</a:t>
            </a:r>
            <a:endParaRPr lang="zh-CN" altLang="en-US" sz="11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498392" y="2469969"/>
            <a:ext cx="981497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2">
                    <a:lumMod val="1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用户登录</a:t>
            </a:r>
            <a:endParaRPr lang="zh-CN" altLang="en-US" sz="1400">
              <a:solidFill>
                <a:schemeClr val="bg2">
                  <a:lumMod val="1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60" name="直接连接符 59"/>
          <p:cNvCxnSpPr/>
          <p:nvPr/>
        </p:nvCxnSpPr>
        <p:spPr>
          <a:xfrm>
            <a:off x="1228939" y="2847380"/>
            <a:ext cx="138430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337" y="1876172"/>
            <a:ext cx="792630" cy="632713"/>
          </a:xfrm>
          <a:prstGeom prst="rect">
            <a:avLst/>
          </a:prstGeom>
        </p:spPr>
      </p:pic>
      <p:sp>
        <p:nvSpPr>
          <p:cNvPr id="63" name="矩形: 圆角 62"/>
          <p:cNvSpPr/>
          <p:nvPr/>
        </p:nvSpPr>
        <p:spPr>
          <a:xfrm>
            <a:off x="1065602" y="3275058"/>
            <a:ext cx="1736088" cy="291368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: 圆角 63"/>
          <p:cNvSpPr/>
          <p:nvPr/>
        </p:nvSpPr>
        <p:spPr>
          <a:xfrm>
            <a:off x="1064262" y="3683313"/>
            <a:ext cx="1736088" cy="291368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1064261" y="3241474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user name</a:t>
            </a:r>
            <a:endParaRPr lang="zh-CN" altLang="en-US" sz="110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64261" y="3638271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password</a:t>
            </a:r>
            <a:endParaRPr lang="zh-CN" altLang="en-US" sz="110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1136650" y="4119388"/>
            <a:ext cx="1571839" cy="2782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ea typeface="思源黑体 CN Normal" panose="020B040000000000000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677279" y="4061374"/>
            <a:ext cx="500772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登录</a:t>
            </a:r>
            <a:endParaRPr lang="zh-CN" altLang="en-US" sz="120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56" grpId="0" animBg="1"/>
      <p:bldP spid="57" grpId="0"/>
      <p:bldP spid="58" grpId="0"/>
      <p:bldP spid="63" grpId="0" animBg="1"/>
      <p:bldP spid="64" grpId="0" animBg="1"/>
      <p:bldP spid="65" grpId="0"/>
      <p:bldP spid="66" grpId="0"/>
      <p:bldP spid="30" grpId="0" animBg="1"/>
      <p:bldP spid="3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49743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按钮部件（</a:t>
            </a:r>
            <a:r>
              <a:rPr lang="en-US" altLang="zh-CN" sz="2000" b="1" err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lv_btn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9530" y="1535275"/>
            <a:ext cx="30831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*btn  = </a:t>
            </a:r>
            <a:r>
              <a:rPr lang="en-US" altLang="zh-CN" sz="120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lv_btn_create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 parent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39530" y="1150777"/>
            <a:ext cx="21141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：创建按钮部件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69129" y="13283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39530" y="2037434"/>
            <a:ext cx="182647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：设置样式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69129" y="22149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9530" y="2422207"/>
            <a:ext cx="6959434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lv_obj_set_size( btn, 100, 50 );								 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大小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endParaRPr lang="en-US" altLang="zh-CN" sz="100"/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lv_obj_set_align( btn, LV_ALIGN_CENTER );						 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对齐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lv_obj_set_style_bg_color( btn, lv_color_hex(0xffe1d4), LV_STATE_PRESSED );  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背景颜色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0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52230" y="3528944"/>
            <a:ext cx="181377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：添加事件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81829" y="370649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52230" y="3913717"/>
            <a:ext cx="729322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lv_obj_add_flag( btn, LV_OBJ_FLAG_CHECKABLE );					</a:t>
            </a:r>
            <a:r>
              <a:rPr lang="en-US" altLang="zh-CN" sz="10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开启状态切换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0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lv_obj_add_event_cb( btn, event_cb, LV_EVENT_VALUE_CHANGED,NULL 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添加事件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21" grpId="0"/>
      <p:bldP spid="22" grpId="0" animBg="1"/>
      <p:bldP spid="2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749039" y="1854898"/>
            <a:ext cx="1877061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开关部件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679189" y="2552700"/>
            <a:ext cx="1769111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lv_switch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7317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开关部件（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lv_switch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1" y="1081288"/>
            <a:ext cx="733422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开关部件常用于控制某个功能的开启和关闭，它可以直接显示被控对象的状态。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914780" y="2731037"/>
            <a:ext cx="23215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744379" y="290858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908609" y="2085719"/>
            <a:ext cx="1960167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开关部件组成部分：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623718" y="1691332"/>
            <a:ext cx="4424532" cy="2966664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2259040" y="2084888"/>
            <a:ext cx="122715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Control  Center</a:t>
            </a:r>
            <a:endParaRPr lang="zh-CN" altLang="en-US" sz="11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383645" y="1718064"/>
            <a:ext cx="1030887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bg2">
                    <a:lumMod val="1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控制中心</a:t>
            </a:r>
            <a:endParaRPr lang="zh-CN" altLang="en-US" sz="1600">
              <a:solidFill>
                <a:schemeClr val="bg2">
                  <a:lumMod val="1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60" name="直接连接符 59"/>
          <p:cNvCxnSpPr/>
          <p:nvPr/>
        </p:nvCxnSpPr>
        <p:spPr>
          <a:xfrm flipV="1">
            <a:off x="854169" y="2127225"/>
            <a:ext cx="3953219" cy="1538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/>
          <p:cNvSpPr/>
          <p:nvPr/>
        </p:nvSpPr>
        <p:spPr>
          <a:xfrm>
            <a:off x="1140108" y="3986222"/>
            <a:ext cx="480432" cy="2520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ea typeface="思源黑体 CN Normal" panose="020B040000000000000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383261" y="4002889"/>
            <a:ext cx="216000" cy="2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130266" y="3428439"/>
            <a:ext cx="60171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制冷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854169" y="2494912"/>
            <a:ext cx="1145692" cy="2048483"/>
          </a:xfrm>
          <a:prstGeom prst="roundRect">
            <a:avLst>
              <a:gd name="adj" fmla="val 6229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/>
          <p:cNvSpPr/>
          <p:nvPr/>
        </p:nvSpPr>
        <p:spPr>
          <a:xfrm>
            <a:off x="2574334" y="3986222"/>
            <a:ext cx="480432" cy="252000"/>
          </a:xfrm>
          <a:prstGeom prst="roundRect">
            <a:avLst>
              <a:gd name="adj" fmla="val 50000"/>
            </a:avLst>
          </a:pr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ea typeface="思源黑体 CN Normal" panose="020B040000000000000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2596030" y="4002889"/>
            <a:ext cx="216000" cy="2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2539092" y="3428439"/>
            <a:ext cx="60171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加热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2257933" y="2494912"/>
            <a:ext cx="1145692" cy="2048483"/>
          </a:xfrm>
          <a:prstGeom prst="roundRect">
            <a:avLst>
              <a:gd name="adj" fmla="val 6229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645" y="2844799"/>
            <a:ext cx="546078" cy="556333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980" y="2844976"/>
            <a:ext cx="608608" cy="624133"/>
          </a:xfrm>
          <a:prstGeom prst="rect">
            <a:avLst/>
          </a:prstGeom>
        </p:spPr>
      </p:pic>
      <p:sp>
        <p:nvSpPr>
          <p:cNvPr id="38" name="矩形: 圆角 37"/>
          <p:cNvSpPr/>
          <p:nvPr/>
        </p:nvSpPr>
        <p:spPr>
          <a:xfrm>
            <a:off x="3998435" y="3989520"/>
            <a:ext cx="480432" cy="2520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ea typeface="思源黑体 CN Normal" panose="020B0400000000000000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4241588" y="4006187"/>
            <a:ext cx="216000" cy="2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988593" y="3431737"/>
            <a:ext cx="60171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除湿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3661696" y="2498210"/>
            <a:ext cx="1145692" cy="2048483"/>
          </a:xfrm>
          <a:prstGeom prst="roundRect">
            <a:avLst>
              <a:gd name="adj" fmla="val 6229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836" y="2870376"/>
            <a:ext cx="546151" cy="531064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5914381" y="3150623"/>
            <a:ext cx="217184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手柄（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LV_PART_KNOB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5743980" y="33281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5927081" y="3542207"/>
            <a:ext cx="285496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指示器（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LV_PART_INDICATOR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5743980" y="371975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56" grpId="0" animBg="1"/>
      <p:bldP spid="57" grpId="0"/>
      <p:bldP spid="58" grpId="0"/>
      <p:bldP spid="30" grpId="0" animBg="1"/>
      <p:bldP spid="2" grpId="0" animBg="1"/>
      <p:bldP spid="25" grpId="0"/>
      <p:bldP spid="28" grpId="0" animBg="1"/>
      <p:bldP spid="31" grpId="0" animBg="1"/>
      <p:bldP spid="33" grpId="0" animBg="1"/>
      <p:bldP spid="34" grpId="0"/>
      <p:bldP spid="35" grpId="0" animBg="1"/>
      <p:bldP spid="38" grpId="0" animBg="1"/>
      <p:bldP spid="39" grpId="0" animBg="1"/>
      <p:bldP spid="40" grpId="0"/>
      <p:bldP spid="41" grpId="0" animBg="1"/>
      <p:bldP spid="51" grpId="0"/>
      <p:bldP spid="52" grpId="0" animBg="1"/>
      <p:bldP spid="53" grpId="0"/>
      <p:bldP spid="5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78511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开关部件（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lv_switch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9530" y="1535275"/>
            <a:ext cx="37054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*switch1  = lv_switch_create( parent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39530" y="1150777"/>
            <a:ext cx="21141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：创建开关部件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69129" y="13283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39530" y="2037434"/>
            <a:ext cx="28291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：添加、清除开关状态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69129" y="22149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9530" y="2422207"/>
            <a:ext cx="8282550" cy="6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add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_state(switch1, LV_STATE_CHECKED | LV_STATE_DISABLED);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添加状态：默认打开且不可修改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00"/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clear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_state(switch1, LV_STATE_CHECKED | LV_STATE_DISABLED);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清除开关的状态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endParaRPr lang="en-US" altLang="zh-CN" sz="100"/>
          </a:p>
        </p:txBody>
      </p:sp>
      <p:sp>
        <p:nvSpPr>
          <p:cNvPr id="21" name="文本框 20"/>
          <p:cNvSpPr txBox="1"/>
          <p:nvPr/>
        </p:nvSpPr>
        <p:spPr>
          <a:xfrm>
            <a:off x="752230" y="3249544"/>
            <a:ext cx="28926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：获取（判断）开关状态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81829" y="342709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39529" y="3638877"/>
            <a:ext cx="8353671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lv_obj_has_state(switch1, LV_STATE_CHECKED)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返回值：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bool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类型，开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:1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；关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 0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998092" y="4297246"/>
            <a:ext cx="87540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开启状态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 flipV="1">
            <a:off x="3397736" y="3976047"/>
            <a:ext cx="0" cy="329253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495039" y="1848548"/>
            <a:ext cx="2251711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复选框部件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628389" y="2546350"/>
            <a:ext cx="1769111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(lv_checkbox)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3593118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复选框部件（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lv_checkbox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1" y="979688"/>
            <a:ext cx="7385097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复选框部件常用于选择某个内容的开启和关闭，可以理解为自带标签的开关。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133730" y="2794537"/>
            <a:ext cx="213829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4963329" y="297208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127559" y="2060319"/>
            <a:ext cx="22257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复选框部件组成部分：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133330" y="3214123"/>
            <a:ext cx="27863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勾选框（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LV_PART_INDICATOR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4962930" y="33916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642768" y="1482908"/>
            <a:ext cx="2621979" cy="3209742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522184" y="2569972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User login</a:t>
            </a:r>
            <a:endParaRPr lang="zh-CN" altLang="en-US" sz="11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498392" y="2235019"/>
            <a:ext cx="981497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2">
                    <a:lumMod val="1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用户登录</a:t>
            </a:r>
            <a:endParaRPr lang="zh-CN" altLang="en-US" sz="1400">
              <a:solidFill>
                <a:schemeClr val="bg2">
                  <a:lumMod val="1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228939" y="2612430"/>
            <a:ext cx="138430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337" y="1641222"/>
            <a:ext cx="792630" cy="632713"/>
          </a:xfrm>
          <a:prstGeom prst="rect">
            <a:avLst/>
          </a:prstGeom>
        </p:spPr>
      </p:pic>
      <p:sp>
        <p:nvSpPr>
          <p:cNvPr id="27" name="矩形: 圆角 26"/>
          <p:cNvSpPr/>
          <p:nvPr/>
        </p:nvSpPr>
        <p:spPr>
          <a:xfrm>
            <a:off x="1065602" y="3027408"/>
            <a:ext cx="1736088" cy="291368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/>
          <p:cNvSpPr/>
          <p:nvPr/>
        </p:nvSpPr>
        <p:spPr>
          <a:xfrm>
            <a:off x="1064262" y="3435663"/>
            <a:ext cx="1736088" cy="291368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064261" y="2993824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user name</a:t>
            </a:r>
            <a:endParaRPr lang="zh-CN" altLang="en-US" sz="110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64261" y="3390621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password</a:t>
            </a:r>
            <a:endParaRPr lang="zh-CN" altLang="en-US" sz="110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1136650" y="4220988"/>
            <a:ext cx="1571839" cy="2782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ea typeface="思源黑体 CN Normal" panose="020B040000000000000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677279" y="4162974"/>
            <a:ext cx="500772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登录</a:t>
            </a:r>
            <a:endParaRPr lang="zh-CN" altLang="en-US" sz="120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2086825" y="3814292"/>
            <a:ext cx="996141" cy="295978"/>
            <a:chOff x="2086825" y="3861123"/>
            <a:chExt cx="996141" cy="295978"/>
          </a:xfrm>
        </p:grpSpPr>
        <p:sp>
          <p:nvSpPr>
            <p:cNvPr id="82" name="矩形: 圆角 81"/>
            <p:cNvSpPr/>
            <p:nvPr/>
          </p:nvSpPr>
          <p:spPr>
            <a:xfrm>
              <a:off x="2086825" y="3970320"/>
              <a:ext cx="131127" cy="130135"/>
            </a:xfrm>
            <a:prstGeom prst="round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2201460" y="3861123"/>
              <a:ext cx="881506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记住密码</a:t>
              </a:r>
              <a:endParaRPr lang="zh-CN" altLang="en-US" sz="10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1064261" y="3816530"/>
            <a:ext cx="996141" cy="295978"/>
            <a:chOff x="1064261" y="3867330"/>
            <a:chExt cx="996141" cy="295978"/>
          </a:xfrm>
        </p:grpSpPr>
        <p:sp>
          <p:nvSpPr>
            <p:cNvPr id="65" name="矩形: 圆角 64"/>
            <p:cNvSpPr/>
            <p:nvPr/>
          </p:nvSpPr>
          <p:spPr>
            <a:xfrm>
              <a:off x="1064261" y="3976527"/>
              <a:ext cx="131127" cy="13013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8" name="直接连接符 67"/>
            <p:cNvCxnSpPr/>
            <p:nvPr/>
          </p:nvCxnSpPr>
          <p:spPr>
            <a:xfrm>
              <a:off x="1089786" y="4033603"/>
              <a:ext cx="30602" cy="39619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V="1">
              <a:off x="1122769" y="4007938"/>
              <a:ext cx="46810" cy="6506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/>
            <p:cNvSpPr txBox="1"/>
            <p:nvPr/>
          </p:nvSpPr>
          <p:spPr>
            <a:xfrm>
              <a:off x="1178896" y="3867330"/>
              <a:ext cx="881506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同意协议</a:t>
              </a:r>
              <a:endParaRPr lang="zh-CN" altLang="en-US" sz="10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51" grpId="0"/>
      <p:bldP spid="52" grpId="0" animBg="1"/>
      <p:bldP spid="20" grpId="0" animBg="1"/>
      <p:bldP spid="22" grpId="0"/>
      <p:bldP spid="23" grpId="0"/>
      <p:bldP spid="27" grpId="0" animBg="1"/>
      <p:bldP spid="32" grpId="0" animBg="1"/>
      <p:bldP spid="36" grpId="0"/>
      <p:bldP spid="42" grpId="0"/>
      <p:bldP spid="43" grpId="0" animBg="1"/>
      <p:bldP spid="4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35445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复选框部件（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lv_checkbox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9530" y="2075025"/>
            <a:ext cx="39912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*checkbox  = lv_checkbox_create (parent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39530" y="1690527"/>
            <a:ext cx="2403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：创建复选框部件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69129" y="18680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39530" y="2793084"/>
            <a:ext cx="18322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：文本设置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69129" y="29706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9530" y="3177857"/>
            <a:ext cx="7782170" cy="6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lv_checkbox_set_text( checkbox, "remember the password" );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设置文本内容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lv_obj_set_style_pad_column( checkbox, 20, LV_STATE_DEFAULT );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设置文本和勾选框的间距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00">
              <a:solidFill>
                <a:srgbClr val="8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35445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复选框部件（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lv_checkbox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39530" y="1662784"/>
            <a:ext cx="28291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：添加、清除复选框状态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69129" y="18403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9530" y="2047557"/>
            <a:ext cx="8282550" cy="6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add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_state(checkbox, LV_STATE_CHECKED | LV_STATE_DISABLED);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添加状态：默认选中且不可修改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00"/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clear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_state(checkbox, LV_STATE_CHECKED | LV_STATE_DISABLED);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清除复选框的状态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endParaRPr lang="en-US" altLang="zh-CN" sz="100"/>
          </a:p>
        </p:txBody>
      </p:sp>
      <p:sp>
        <p:nvSpPr>
          <p:cNvPr id="21" name="文本框 20"/>
          <p:cNvSpPr txBox="1"/>
          <p:nvPr/>
        </p:nvSpPr>
        <p:spPr>
          <a:xfrm>
            <a:off x="752230" y="3084444"/>
            <a:ext cx="300655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：获取（判断）复选框状态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81829" y="3261993"/>
            <a:ext cx="80588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52229" y="3473777"/>
            <a:ext cx="8282551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lv_obj_has_state(checkbox, LV_STATE_CHECKED);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返回值：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，选中；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，非选中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/>
      <p:bldP spid="21" grpId="0"/>
      <p:bldP spid="22" grpId="0" animBg="1"/>
      <p:bldP spid="2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539489" y="1854898"/>
            <a:ext cx="2251711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进度条部件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4041139" y="2552700"/>
            <a:ext cx="1127761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(lv_bar)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63991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进度条部件（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lv_bar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1" y="1144788"/>
            <a:ext cx="436129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进度条部件常用于显示当前任务的完成进度。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184530" y="2813587"/>
            <a:ext cx="213829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014129" y="299113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178359" y="2079369"/>
            <a:ext cx="22257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进度条部件组成部分：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184130" y="3233173"/>
            <a:ext cx="27863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指示器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(LV_PART_INDICATOR)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5013730" y="341072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642768" y="1943100"/>
            <a:ext cx="3367503" cy="2063751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/>
          <p:cNvSpPr/>
          <p:nvPr/>
        </p:nvSpPr>
        <p:spPr>
          <a:xfrm>
            <a:off x="893582" y="2745581"/>
            <a:ext cx="2840218" cy="11220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899931" y="2745581"/>
            <a:ext cx="1488729" cy="11220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695451" y="2972823"/>
            <a:ext cx="128905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下载进度：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50%</a:t>
            </a:r>
            <a:endParaRPr lang="zh-CN" altLang="en-US" sz="11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44288" y="2217318"/>
            <a:ext cx="128904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LOADING…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42768" y="3616934"/>
            <a:ext cx="336750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043944" y="3623284"/>
            <a:ext cx="52145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取消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51" grpId="0"/>
      <p:bldP spid="52" grpId="0" animBg="1"/>
      <p:bldP spid="20" grpId="0" animBg="1"/>
      <p:bldP spid="2" grpId="0" animBg="1"/>
      <p:bldP spid="3" grpId="0" animBg="1"/>
      <p:bldP spid="7" grpId="0"/>
      <p:bldP spid="8" grpId="0"/>
      <p:bldP spid="1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6809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进度条部件（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lv_bar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706725"/>
            <a:ext cx="31593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*bar  = lv_bar_create ( parent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353977"/>
            <a:ext cx="2403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：创建进度条部件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5315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2215234"/>
            <a:ext cx="3915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：设置大小、当前值、范围值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3927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45880" y="2580957"/>
            <a:ext cx="6486770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lv_obj_set_size( bar, 400, 20 );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设置大小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lv_bar_set_value( bar, 50, LV_ANIM_ON 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设置当前值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lv_bar_set_range( bar, -100, 100 );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设置范围值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5880" y="3665180"/>
            <a:ext cx="21116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：设置动画时间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75479" y="384272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5880" y="4018203"/>
            <a:ext cx="79091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lv_obj_set_style_anim_time( bar, 500, LV_STATE_DEFAULT 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动画设置必须放在当前值设置之前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2" grpId="0"/>
      <p:bldP spid="3" grpId="0" animBg="1"/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6809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进度条部件（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lv_bar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592425"/>
            <a:ext cx="6067670" cy="6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lv_bar_set_mode( bar, LV_BAR_MODE_RANGE );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设置模式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lv_bar_set_start_value( bar, -50, LV_ANIM_OFF );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设置起始值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800000"/>
              </a:solidFill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163477"/>
            <a:ext cx="29498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拓展知识点：设置模式、起始值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3410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89497" y="2683946"/>
            <a:ext cx="7526905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enum</a:t>
            </a: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{</a:t>
            </a:r>
            <a:endParaRPr lang="fr-FR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LV_BAR_MODE_NORMAL,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默认模式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fr-FR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LV_BAR_MODE_SYMMETRICAL,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从零值绘制到当前值（当前值可以小于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fr-FR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LV_BAR_MODE_RANGE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允许设置起始值，但起始值必须小于当前值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fr-FR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};</a:t>
            </a:r>
            <a:endParaRPr lang="en-US" altLang="zh-CN" sz="12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5879" y="4078962"/>
            <a:ext cx="752690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注意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：在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V8.2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版本的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LVGL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中，默认模式也允许设置起始值，但是后续的版本可能会修改。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8" grpId="0" animBg="1"/>
      <p:bldP spid="1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6809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进度条部件（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lv_bar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5880" y="1334730"/>
            <a:ext cx="387057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进度条使用注意事项（</a:t>
            </a:r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V8.2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版本）：</a:t>
            </a:r>
            <a:endParaRPr lang="zh-CN" altLang="en-US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75479" y="233777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5880" y="2151303"/>
            <a:ext cx="37562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当进度条高度大于宽度时，其方向变为垂直。</a:t>
            </a:r>
            <a:endParaRPr lang="en-US" altLang="zh-CN" sz="14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575479" y="335177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45880" y="3165302"/>
            <a:ext cx="66455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动画时间指的是旧值刷新到新值的绘图时间，并不是现实中当前值变化所需的时间。</a:t>
            </a:r>
            <a:endParaRPr lang="en-US" altLang="zh-CN" sz="14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575479" y="2838095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745879" y="2651619"/>
            <a:ext cx="514945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动画时间设置需要放在当前值设置之前 ，否则看不到动画效果。</a:t>
            </a:r>
            <a:endParaRPr lang="en-US" altLang="zh-CN" sz="14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7" grpId="0"/>
      <p:bldP spid="17" grpId="0" animBg="1"/>
      <p:bldP spid="21" grpId="0"/>
      <p:bldP spid="29" grpId="0" animBg="1"/>
      <p:bldP spid="3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539489" y="1854898"/>
            <a:ext cx="2251711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加载器部件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803650" y="2552700"/>
            <a:ext cx="1576065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(lv_spinner)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/>
          <p:cNvSpPr/>
          <p:nvPr/>
        </p:nvSpPr>
        <p:spPr>
          <a:xfrm>
            <a:off x="642768" y="1994812"/>
            <a:ext cx="3643482" cy="1894022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977269" y="2327025"/>
            <a:ext cx="900000" cy="9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3246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加载器部件（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lv_spinner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1" y="1144788"/>
            <a:ext cx="413269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加载器部件常用于提示当前任务正在加载。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267080" y="2616737"/>
            <a:ext cx="213829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096679" y="279428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254559" y="1958719"/>
            <a:ext cx="22257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加载器部件组成部分：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266680" y="3036323"/>
            <a:ext cx="27863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指示器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(LV_PART_INDICATOR)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5096280" y="32138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空心弧 17"/>
          <p:cNvSpPr/>
          <p:nvPr/>
        </p:nvSpPr>
        <p:spPr>
          <a:xfrm>
            <a:off x="1968657" y="2306075"/>
            <a:ext cx="1080000" cy="976245"/>
          </a:xfrm>
          <a:prstGeom prst="blockArc">
            <a:avLst>
              <a:gd name="adj1" fmla="val 12385626"/>
              <a:gd name="adj2" fmla="val 14441466"/>
              <a:gd name="adj3" fmla="val 912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2242583" y="2352007"/>
            <a:ext cx="93600" cy="936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2025174" y="2541865"/>
            <a:ext cx="93600" cy="936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067269" y="2417025"/>
            <a:ext cx="720000" cy="7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907539" y="3275134"/>
            <a:ext cx="119126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LOADING…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266680" y="3454272"/>
            <a:ext cx="20739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手柄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(LV_PART_KNOB)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096280" y="363182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0" grpId="0" animBg="1"/>
      <p:bldP spid="29" grpId="0"/>
      <p:bldP spid="49" grpId="0"/>
      <p:bldP spid="50" grpId="0" animBg="1"/>
      <p:bldP spid="55" grpId="0"/>
      <p:bldP spid="51" grpId="0"/>
      <p:bldP spid="52" grpId="0" animBg="1"/>
      <p:bldP spid="18" grpId="0" animBg="1"/>
      <p:bldP spid="19" grpId="0" animBg="1"/>
      <p:bldP spid="21" grpId="0" animBg="1"/>
      <p:bldP spid="14" grpId="0" animBg="1"/>
      <p:bldP spid="22" grpId="0"/>
      <p:bldP spid="23" grpId="0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7" y="466454"/>
            <a:ext cx="3260969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加载器部件（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lv_spinner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649575"/>
            <a:ext cx="54072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*spinner  = lv_spinner_create( parent, spin_time, arc_length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296827"/>
            <a:ext cx="22830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：创建加载器部件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4743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2158084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：设置圆弧颜色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3356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45880" y="2523807"/>
            <a:ext cx="80615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arc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_color( spinner, lv_color_hex(0x4a9f00), LV_PART_MAIN ); 	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设置主体圆弧颜色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arc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_color( spinner, lv_color_hex(0x83bd55), LV_PART_INDICATOR );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设置指示器圆弧颜色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5880" y="3318203"/>
            <a:ext cx="22068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：设置圆弧宽度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5479" y="349575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45880" y="3683926"/>
            <a:ext cx="81250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arc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_width( spinner, 30, LV_PART_MAIN );					 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设置主体圆弧宽度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arc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_width( spinner, 30, LV_PART_INDICATOR );				 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设置指示器圆弧宽度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651887" y="1854898"/>
            <a:ext cx="1840226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LED</a:t>
            </a: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956051" y="2512078"/>
            <a:ext cx="1130300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(lv_led)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/>
          <p:cNvSpPr/>
          <p:nvPr/>
        </p:nvSpPr>
        <p:spPr>
          <a:xfrm>
            <a:off x="464968" y="1519438"/>
            <a:ext cx="4392782" cy="2658862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3485975" y="2603500"/>
            <a:ext cx="851075" cy="1302906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/>
        </p:nvSpPr>
        <p:spPr>
          <a:xfrm>
            <a:off x="2228046" y="2603500"/>
            <a:ext cx="851074" cy="1302906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>
            <a:off x="952500" y="2603500"/>
            <a:ext cx="851073" cy="1302906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3507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LED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lv_led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233551" y="2091110"/>
            <a:ext cx="356754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部件常用于指示控制对象的状态。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991821" y="2958789"/>
            <a:ext cx="214253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821420" y="313633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110613" y="2812772"/>
            <a:ext cx="504000" cy="504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102990" y="3366269"/>
            <a:ext cx="577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客厅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398173" y="2812772"/>
            <a:ext cx="504000" cy="50400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63500" sx="110000" sy="110000" algn="ctr" rotWithShape="0">
              <a:srgbClr val="00B0F0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374038" y="3366269"/>
            <a:ext cx="577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卧室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662085" y="2812772"/>
            <a:ext cx="504000" cy="504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12000" sy="112000" algn="ctr" rotWithShape="0">
              <a:srgbClr val="00B0F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654034" y="3366269"/>
            <a:ext cx="577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厨房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077203" y="2090504"/>
            <a:ext cx="122715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Control  Center</a:t>
            </a:r>
            <a:endParaRPr lang="zh-CN" altLang="en-US" sz="11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201808" y="1662723"/>
            <a:ext cx="1030887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bg2">
                    <a:lumMod val="1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控制中心</a:t>
            </a:r>
            <a:endParaRPr lang="zh-CN" altLang="en-US" sz="1600">
              <a:solidFill>
                <a:schemeClr val="bg2">
                  <a:lumMod val="1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828117" y="2102079"/>
            <a:ext cx="3635931" cy="635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6" grpId="0" animBg="1"/>
      <p:bldP spid="12" grpId="0" animBg="1"/>
      <p:bldP spid="10" grpId="0" animBg="1"/>
      <p:bldP spid="29" grpId="0"/>
      <p:bldP spid="49" grpId="0"/>
      <p:bldP spid="50" grpId="0" animBg="1"/>
      <p:bldP spid="14" grpId="0" animBg="1"/>
      <p:bldP spid="22" grpId="0"/>
      <p:bldP spid="2" grpId="0" animBg="1"/>
      <p:bldP spid="3" grpId="0"/>
      <p:bldP spid="7" grpId="0" animBg="1"/>
      <p:bldP spid="8" grpId="0"/>
      <p:bldP spid="17" grpId="0"/>
      <p:bldP spid="1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7" y="466454"/>
            <a:ext cx="238887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LED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lv_led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554325"/>
            <a:ext cx="30514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*led = lv_led_create( parent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201577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3791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2043784"/>
            <a:ext cx="27529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颜色、亮度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2213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45880" y="2409507"/>
            <a:ext cx="6953084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lv_led_set_color( led, lv_color_hex(0xff0000) );	  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颜色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lv_led_set_brightness( led, 0 );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亮度，范围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0~255*/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5880" y="3165803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状态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5479" y="334335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45880" y="3531526"/>
            <a:ext cx="7191620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lv_led_on( led );				    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打开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（设置亮度为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255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lv_led_off( led );		    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关闭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lv_led_toggle( led 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翻转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状态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673634" y="1865076"/>
            <a:ext cx="1796732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列表部件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4025901" y="2512078"/>
            <a:ext cx="1104900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(lv_list)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: 圆角 35"/>
          <p:cNvSpPr/>
          <p:nvPr/>
        </p:nvSpPr>
        <p:spPr>
          <a:xfrm>
            <a:off x="636416" y="1634038"/>
            <a:ext cx="2297283" cy="2937962"/>
          </a:xfrm>
          <a:prstGeom prst="roundRect">
            <a:avLst>
              <a:gd name="adj" fmla="val 622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706268" y="1969722"/>
            <a:ext cx="2163932" cy="2424478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3825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列表部件（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lv_list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0" y="1017788"/>
            <a:ext cx="514235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列表部件常用于多选一的场景，默认会展现多个选项。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924359" y="2219069"/>
            <a:ext cx="22257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列表部件组成部分：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69641" y="2010697"/>
            <a:ext cx="704402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WLAN</a:t>
            </a:r>
            <a:endParaRPr lang="zh-CN" altLang="en-US" sz="11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994" y="2098673"/>
            <a:ext cx="210831" cy="200075"/>
          </a:xfrm>
          <a:prstGeom prst="rect">
            <a:avLst/>
          </a:prstGeom>
        </p:spPr>
      </p:pic>
      <p:cxnSp>
        <p:nvCxnSpPr>
          <p:cNvPr id="21" name="直接连接符 20"/>
          <p:cNvCxnSpPr/>
          <p:nvPr/>
        </p:nvCxnSpPr>
        <p:spPr>
          <a:xfrm>
            <a:off x="859867" y="2371511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62" y="2455196"/>
            <a:ext cx="174101" cy="232952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1169641" y="2407980"/>
            <a:ext cx="50040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蓝牙</a:t>
            </a:r>
            <a:endParaRPr lang="zh-CN" altLang="en-US" sz="11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859867" y="2774008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764" y="2848403"/>
            <a:ext cx="218863" cy="243181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169641" y="2795775"/>
            <a:ext cx="77345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移动网络</a:t>
            </a:r>
            <a:endParaRPr lang="zh-CN" altLang="en-US" sz="11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859867" y="3176505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738" y="3253593"/>
            <a:ext cx="238760" cy="241287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1169641" y="3198982"/>
            <a:ext cx="77345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更多连接</a:t>
            </a:r>
            <a:endParaRPr lang="zh-CN" altLang="en-US" sz="11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17440" y="1641948"/>
            <a:ext cx="49701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206467" y="3620685"/>
            <a:ext cx="57025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壁纸</a:t>
            </a:r>
            <a:endParaRPr lang="zh-CN" altLang="en-US" sz="11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48" name="直接连接符 47"/>
          <p:cNvCxnSpPr/>
          <p:nvPr/>
        </p:nvCxnSpPr>
        <p:spPr>
          <a:xfrm>
            <a:off x="859867" y="3981499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1206467" y="4017968"/>
            <a:ext cx="50040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亮度</a:t>
            </a:r>
            <a:endParaRPr lang="zh-CN" altLang="en-US" sz="11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42" y="3681363"/>
            <a:ext cx="223532" cy="233358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112" y="4066232"/>
            <a:ext cx="271268" cy="262006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4924180" y="2807237"/>
            <a:ext cx="213829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4753779" y="298478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4923780" y="3226823"/>
            <a:ext cx="27863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滚动条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(LV_PART_SCROLLBAR)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4753380" y="34043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连接符 71"/>
          <p:cNvCxnSpPr/>
          <p:nvPr/>
        </p:nvCxnSpPr>
        <p:spPr>
          <a:xfrm>
            <a:off x="859867" y="3579002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: 圆角 72"/>
          <p:cNvSpPr/>
          <p:nvPr/>
        </p:nvSpPr>
        <p:spPr>
          <a:xfrm>
            <a:off x="2790508" y="2064716"/>
            <a:ext cx="36000" cy="2047554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20" grpId="0" animBg="1"/>
      <p:bldP spid="29" grpId="0"/>
      <p:bldP spid="55" grpId="0"/>
      <p:bldP spid="14" grpId="0"/>
      <p:bldP spid="26" grpId="0"/>
      <p:bldP spid="31" grpId="0"/>
      <p:bldP spid="35" grpId="0"/>
      <p:bldP spid="37" grpId="0"/>
      <p:bldP spid="46" grpId="0"/>
      <p:bldP spid="54" grpId="0"/>
      <p:bldP spid="66" grpId="0"/>
      <p:bldP spid="67" grpId="0" animBg="1"/>
      <p:bldP spid="68" grpId="0"/>
      <p:bldP spid="69" grpId="0" animBg="1"/>
      <p:bldP spid="7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7" y="466454"/>
            <a:ext cx="238887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列表部件（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lv_list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579725"/>
            <a:ext cx="30514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*list = lv_list_create( parent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226977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：创建列表部件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4045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2018384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：添加列表文本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1959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45880" y="2384107"/>
            <a:ext cx="27847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lv_list_add_text( list, “Settings"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5880" y="2848303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：添加列表按钮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5479" y="302585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45879" y="3214026"/>
            <a:ext cx="4981821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*btn= lv_list_add_btn( list, LV_SYMBOL_WIFI, “WLAN"); 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5880" y="3724629"/>
            <a:ext cx="24862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：获取列表按钮文本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75479" y="390217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5880" y="4090352"/>
            <a:ext cx="2668652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lv_list_get_btn_text( list, list_btn );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6026150" y="1507086"/>
            <a:ext cx="2297283" cy="2478232"/>
          </a:xfrm>
          <a:prstGeom prst="roundRect">
            <a:avLst>
              <a:gd name="adj" fmla="val 622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/>
          <p:cNvSpPr/>
          <p:nvPr/>
        </p:nvSpPr>
        <p:spPr>
          <a:xfrm>
            <a:off x="6096002" y="1842770"/>
            <a:ext cx="2163932" cy="2041475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559375" y="1883745"/>
            <a:ext cx="704402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WLAN</a:t>
            </a:r>
            <a:endParaRPr lang="zh-CN" altLang="en-US" sz="11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728" y="1971721"/>
            <a:ext cx="210831" cy="200075"/>
          </a:xfrm>
          <a:prstGeom prst="rect">
            <a:avLst/>
          </a:prstGeom>
        </p:spPr>
      </p:pic>
      <p:cxnSp>
        <p:nvCxnSpPr>
          <p:cNvPr id="24" name="直接连接符 23"/>
          <p:cNvCxnSpPr/>
          <p:nvPr/>
        </p:nvCxnSpPr>
        <p:spPr>
          <a:xfrm>
            <a:off x="6249601" y="2244559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596" y="2328244"/>
            <a:ext cx="174101" cy="232952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559375" y="2281028"/>
            <a:ext cx="50040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蓝牙</a:t>
            </a:r>
            <a:endParaRPr lang="zh-CN" altLang="en-US" sz="11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6249601" y="2647056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498" y="2721451"/>
            <a:ext cx="218863" cy="243181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6559375" y="2668823"/>
            <a:ext cx="77345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移动网络</a:t>
            </a:r>
            <a:endParaRPr lang="zh-CN" altLang="en-US" sz="11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6249601" y="3049553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6207174" y="1514996"/>
            <a:ext cx="49701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596201" y="3087333"/>
            <a:ext cx="57025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壁纸</a:t>
            </a:r>
            <a:endParaRPr lang="zh-CN" altLang="en-US" sz="11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249601" y="3448147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6596201" y="3484616"/>
            <a:ext cx="50040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亮度</a:t>
            </a:r>
            <a:endParaRPr lang="zh-CN" altLang="en-US" sz="11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776" y="3148011"/>
            <a:ext cx="223532" cy="233358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846" y="3532880"/>
            <a:ext cx="271268" cy="262006"/>
          </a:xfrm>
          <a:prstGeom prst="rect">
            <a:avLst/>
          </a:prstGeom>
        </p:spPr>
      </p:pic>
      <p:sp>
        <p:nvSpPr>
          <p:cNvPr id="41" name="矩形: 圆角 40"/>
          <p:cNvSpPr/>
          <p:nvPr/>
        </p:nvSpPr>
        <p:spPr>
          <a:xfrm>
            <a:off x="8180242" y="1937764"/>
            <a:ext cx="36000" cy="1328400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  <p:bldP spid="2" grpId="0"/>
      <p:bldP spid="3" grpId="0" animBg="1"/>
      <p:bldP spid="7" grpId="0"/>
      <p:bldP spid="17" grpId="0" animBg="1"/>
      <p:bldP spid="21" grpId="0" animBg="1"/>
      <p:bldP spid="22" grpId="0"/>
      <p:bldP spid="26" grpId="0"/>
      <p:bldP spid="29" grpId="0"/>
      <p:bldP spid="34" grpId="0"/>
      <p:bldP spid="35" grpId="0"/>
      <p:bldP spid="37" grpId="0"/>
      <p:bldP spid="4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251518" y="1833326"/>
            <a:ext cx="2640963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下拉列表部件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549650" y="2512078"/>
            <a:ext cx="1993899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(lv_dropdown)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/>
          <p:cNvSpPr/>
          <p:nvPr/>
        </p:nvSpPr>
        <p:spPr>
          <a:xfrm>
            <a:off x="642768" y="2039262"/>
            <a:ext cx="3491082" cy="2177138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38620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下拉列表部件（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lv_dropdown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0" y="1144788"/>
            <a:ext cx="56821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下拉列表部件常用于多选一的场景，点击后可展现多个选项。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614016" y="2948866"/>
            <a:ext cx="16226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BUTTON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443615" y="3126415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311709" y="2219069"/>
            <a:ext cx="22257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下拉列表部件组成部分：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613616" y="3368452"/>
            <a:ext cx="12128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列表（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LIST)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5443216" y="354600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/>
          <p:cNvSpPr/>
          <p:nvPr/>
        </p:nvSpPr>
        <p:spPr>
          <a:xfrm>
            <a:off x="1052268" y="2357567"/>
            <a:ext cx="1141656" cy="310106"/>
          </a:xfrm>
          <a:prstGeom prst="roundRect">
            <a:avLst>
              <a:gd name="adj" fmla="val 16468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128748" y="2321198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等线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925635" y="2473330"/>
            <a:ext cx="66675" cy="72231"/>
          </a:xfrm>
          <a:prstGeom prst="line">
            <a:avLst/>
          </a:prstGeom>
          <a:ln cap="rnd">
            <a:solidFill>
              <a:srgbClr val="002060"/>
            </a:solidFill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1992310" y="2473330"/>
            <a:ext cx="61912" cy="72231"/>
          </a:xfrm>
          <a:prstGeom prst="line">
            <a:avLst/>
          </a:prstGeom>
          <a:ln cap="rnd">
            <a:solidFill>
              <a:srgbClr val="002060"/>
            </a:solidFill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/>
          <p:cNvSpPr/>
          <p:nvPr/>
        </p:nvSpPr>
        <p:spPr>
          <a:xfrm>
            <a:off x="1052267" y="2681387"/>
            <a:ext cx="1141656" cy="1301613"/>
          </a:xfrm>
          <a:prstGeom prst="roundRect">
            <a:avLst>
              <a:gd name="adj" fmla="val 4170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128748" y="2718916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宋体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128748" y="3009836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楷体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1052267" y="3335197"/>
            <a:ext cx="1141656" cy="289849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1128748" y="3300756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rgbClr val="FFFF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等线</a:t>
            </a:r>
            <a:endParaRPr lang="zh-CN" altLang="en-US" sz="1100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128748" y="3591677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黑体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4" name="矩形: 圆角 43"/>
          <p:cNvSpPr/>
          <p:nvPr/>
        </p:nvSpPr>
        <p:spPr>
          <a:xfrm>
            <a:off x="2567930" y="2360570"/>
            <a:ext cx="1141656" cy="310106"/>
          </a:xfrm>
          <a:prstGeom prst="roundRect">
            <a:avLst>
              <a:gd name="adj" fmla="val 16468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2644410" y="2324201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3441297" y="2476333"/>
            <a:ext cx="66675" cy="72231"/>
          </a:xfrm>
          <a:prstGeom prst="line">
            <a:avLst/>
          </a:prstGeom>
          <a:ln cap="rnd">
            <a:solidFill>
              <a:srgbClr val="002060"/>
            </a:solidFill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>
            <a:off x="3507972" y="2476333"/>
            <a:ext cx="61912" cy="72231"/>
          </a:xfrm>
          <a:prstGeom prst="line">
            <a:avLst/>
          </a:prstGeom>
          <a:ln cap="rnd">
            <a:solidFill>
              <a:srgbClr val="002060"/>
            </a:solidFill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/>
          <p:cNvSpPr/>
          <p:nvPr/>
        </p:nvSpPr>
        <p:spPr>
          <a:xfrm>
            <a:off x="2567929" y="2684390"/>
            <a:ext cx="1141656" cy="1301613"/>
          </a:xfrm>
          <a:prstGeom prst="roundRect">
            <a:avLst>
              <a:gd name="adj" fmla="val 4170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2644410" y="2721919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644410" y="3012839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14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2567929" y="3338200"/>
            <a:ext cx="1141656" cy="289849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2644410" y="3303759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FFFF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</a:t>
            </a:r>
            <a:endParaRPr lang="zh-CN" altLang="en-US" sz="1100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644410" y="3594680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24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9" grpId="0"/>
      <p:bldP spid="49" grpId="0"/>
      <p:bldP spid="50" grpId="0" animBg="1"/>
      <p:bldP spid="55" grpId="0"/>
      <p:bldP spid="51" grpId="0"/>
      <p:bldP spid="52" grpId="0" animBg="1"/>
      <p:bldP spid="2" grpId="0" animBg="1"/>
      <p:bldP spid="22" grpId="0"/>
      <p:bldP spid="38" grpId="0" animBg="1"/>
      <p:bldP spid="39" grpId="0"/>
      <p:bldP spid="40" grpId="0"/>
      <p:bldP spid="43" grpId="0" animBg="1"/>
      <p:bldP spid="41" grpId="0"/>
      <p:bldP spid="42" grpId="0"/>
      <p:bldP spid="44" grpId="0" animBg="1"/>
      <p:bldP spid="45" grpId="0"/>
      <p:bldP spid="48" grpId="0" animBg="1"/>
      <p:bldP spid="53" grpId="0"/>
      <p:bldP spid="54" grpId="0"/>
      <p:bldP spid="56" grpId="0" animBg="1"/>
      <p:bldP spid="57" grpId="0"/>
      <p:bldP spid="5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7" y="466454"/>
            <a:ext cx="392557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下拉列表部件（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lv_dropdown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636875"/>
            <a:ext cx="35340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*dd = lv_dropdown_create( parent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284127"/>
            <a:ext cx="24672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：创建下拉列表部件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4616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2151734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：设置选项内容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3292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45880" y="2517457"/>
            <a:ext cx="7496420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lv_dropdown_set_options( dd, "a\nb\nc\nd");	  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设置选项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lv_dropdown_set_options_static( dd, "a\nb\nc\nd ");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设置选项 （静态）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lv_dropdown_add_option( dd, "e", 4);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添加选项，索引从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开始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8580" y="3598344"/>
            <a:ext cx="236181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：设置当前所选项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8179" y="377589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58580" y="3964067"/>
            <a:ext cx="67217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lv_dropdown_set_selected( dd, 1);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注意：索引从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开始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7" y="466454"/>
            <a:ext cx="381127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下拉列表部件（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lv_dropdown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636875"/>
            <a:ext cx="6118470" cy="112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lv_dropdown_get_selected( dd);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获取索引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char buf[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10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];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lv_dropdown_get_selected_str( dd, buf, sizeof(buf));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获取选项文本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284127"/>
            <a:ext cx="24672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：获取选项内容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4616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45880" y="3198294"/>
            <a:ext cx="236181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：设置方向和图标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5479" y="337584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45880" y="3564017"/>
            <a:ext cx="64994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lv_dropdown_set_dir(dd, LV_DIR_RIGHT);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设置列表展开方向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lv_dropdown_set_symbol(dd, LV_SYMBOL_RIGHT);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设置图标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8" grpId="0"/>
      <p:bldP spid="10" grpId="0" animBg="1"/>
      <p:bldP spid="1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657919" y="1833326"/>
            <a:ext cx="1834832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滚轮部件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854451" y="2512078"/>
            <a:ext cx="1409700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(lv_roller)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/>
          <p:cNvSpPr/>
          <p:nvPr/>
        </p:nvSpPr>
        <p:spPr>
          <a:xfrm>
            <a:off x="655468" y="2147212"/>
            <a:ext cx="2373482" cy="1719938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7698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滚轮部件（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lv_roller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0" y="1144788"/>
            <a:ext cx="610755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滚轮部件常用于多选一的场景，它以滚轮的形式来展现多个选项。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020010" y="2859919"/>
            <a:ext cx="210758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4849609" y="303746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019609" y="2180969"/>
            <a:ext cx="19844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滚轮部件组成部分：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019609" y="3273155"/>
            <a:ext cx="270393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选项框（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LV_PART_SELECTED)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4849210" y="3457054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/>
          <p:cNvSpPr/>
          <p:nvPr/>
        </p:nvSpPr>
        <p:spPr>
          <a:xfrm>
            <a:off x="921422" y="2709737"/>
            <a:ext cx="769666" cy="900627"/>
          </a:xfrm>
          <a:prstGeom prst="roundRect">
            <a:avLst>
              <a:gd name="adj" fmla="val 4170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118553" y="2696107"/>
            <a:ext cx="40544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70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921422" y="3021468"/>
            <a:ext cx="769666" cy="289849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1118553" y="2987027"/>
            <a:ext cx="40544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FFFF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80</a:t>
            </a:r>
            <a:endParaRPr lang="zh-CN" altLang="en-US" sz="1100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118553" y="3277948"/>
            <a:ext cx="40544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90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1986234" y="2712740"/>
            <a:ext cx="769666" cy="900627"/>
          </a:xfrm>
          <a:prstGeom prst="roundRect">
            <a:avLst>
              <a:gd name="adj" fmla="val 4170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2183365" y="2699110"/>
            <a:ext cx="432835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25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1986234" y="3024471"/>
            <a:ext cx="769666" cy="289849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2183365" y="2990030"/>
            <a:ext cx="432835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FFFF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26</a:t>
            </a:r>
            <a:endParaRPr lang="zh-CN" altLang="en-US" sz="1100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183365" y="3280951"/>
            <a:ext cx="432835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27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17972" y="2280888"/>
            <a:ext cx="606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湿度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%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074261" y="2280888"/>
            <a:ext cx="606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温度℃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9" grpId="0"/>
      <p:bldP spid="49" grpId="0"/>
      <p:bldP spid="50" grpId="0" animBg="1"/>
      <p:bldP spid="55" grpId="0"/>
      <p:bldP spid="51" grpId="0"/>
      <p:bldP spid="52" grpId="0" animBg="1"/>
      <p:bldP spid="38" grpId="0" animBg="1"/>
      <p:bldP spid="40" grpId="0"/>
      <p:bldP spid="43" grpId="0" animBg="1"/>
      <p:bldP spid="41" grpId="0"/>
      <p:bldP spid="42" grpId="0"/>
      <p:bldP spid="48" grpId="0" animBg="1"/>
      <p:bldP spid="54" grpId="0"/>
      <p:bldP spid="56" grpId="0" animBg="1"/>
      <p:bldP spid="57" grpId="0"/>
      <p:bldP spid="58" grpId="0"/>
      <p:bldP spid="2" grpId="0"/>
      <p:bldP spid="8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7" y="466454"/>
            <a:ext cx="270002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滚轮部件（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lv_roller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757525"/>
            <a:ext cx="33244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*roller= lv_roller_create( parent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404777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：创建滚轮部件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5823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2393034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：设置选项间隔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5705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45880" y="2758757"/>
            <a:ext cx="48548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lv_obj_set_style_text_line_space(roller, 30, LV_STATE_DEFAULT);	   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8580" y="3426894"/>
            <a:ext cx="30958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：设置选项内容、滚动模式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8179" y="360444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58580" y="3792617"/>
            <a:ext cx="72106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lv_roller_set_options(roller, “a\nb\nc\nd”, LV_ROLLER_MODE_NORMAL);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正常模式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7" y="466454"/>
            <a:ext cx="270002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滚轮部件（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lv_roller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8580" y="1204394"/>
            <a:ext cx="236181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：设置当前所选项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8179" y="138194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58580" y="1570117"/>
            <a:ext cx="35784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lv_roller_set_selected(roller, 3, LV_ANIM_ON);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8580" y="2102873"/>
            <a:ext cx="21306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：设置可见行数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88179" y="228042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8580" y="2468596"/>
            <a:ext cx="35784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lv_roller_set_visible_row_count(roller, 2);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58580" y="3392587"/>
            <a:ext cx="7172570" cy="112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lv_roller_get_selected(roller);	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获取索引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char buf[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10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];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lv_roller_get_selected_str(roller, buf, sizeof(buf));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获取选项文本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58580" y="3039839"/>
            <a:ext cx="24672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6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：获取选项内容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88179" y="321738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/>
          <p:cNvSpPr/>
          <p:nvPr/>
        </p:nvSpPr>
        <p:spPr>
          <a:xfrm>
            <a:off x="5753809" y="1379001"/>
            <a:ext cx="2373482" cy="1719938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>
            <a:off x="6019763" y="1941526"/>
            <a:ext cx="769666" cy="900627"/>
          </a:xfrm>
          <a:prstGeom prst="roundRect">
            <a:avLst>
              <a:gd name="adj" fmla="val 4170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216894" y="1927896"/>
            <a:ext cx="40544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70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6019763" y="2253257"/>
            <a:ext cx="769666" cy="289849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216894" y="2218816"/>
            <a:ext cx="40544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FFFF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80</a:t>
            </a:r>
            <a:endParaRPr lang="zh-CN" altLang="en-US" sz="1100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216894" y="2509737"/>
            <a:ext cx="40544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90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7084575" y="1944529"/>
            <a:ext cx="769666" cy="900627"/>
          </a:xfrm>
          <a:prstGeom prst="roundRect">
            <a:avLst>
              <a:gd name="adj" fmla="val 4170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7281706" y="1930899"/>
            <a:ext cx="432835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25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7084575" y="2256260"/>
            <a:ext cx="769666" cy="289849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7281706" y="2221819"/>
            <a:ext cx="432835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FFFF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26</a:t>
            </a:r>
            <a:endParaRPr lang="zh-CN" altLang="en-US" sz="1100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281706" y="2512740"/>
            <a:ext cx="432835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27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116313" y="1512677"/>
            <a:ext cx="606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湿度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%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172602" y="1512677"/>
            <a:ext cx="606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温度℃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6" grpId="0"/>
      <p:bldP spid="2" grpId="0"/>
      <p:bldP spid="3" grpId="0" animBg="1"/>
      <p:bldP spid="7" grpId="0"/>
      <p:bldP spid="17" grpId="0"/>
      <p:bldP spid="21" grpId="0"/>
      <p:bldP spid="22" grpId="0" animBg="1"/>
      <p:bldP spid="23" grpId="0" animBg="1"/>
      <p:bldP spid="24" grpId="0" animBg="1"/>
      <p:bldP spid="25" grpId="0"/>
      <p:bldP spid="26" grpId="0" animBg="1"/>
      <p:bldP spid="27" grpId="0"/>
      <p:bldP spid="28" grpId="0"/>
      <p:bldP spid="29" grpId="0" animBg="1"/>
      <p:bldP spid="30" grpId="0"/>
      <p:bldP spid="31" grpId="0" animBg="1"/>
      <p:bldP spid="33" grpId="0"/>
      <p:bldP spid="34" grpId="0"/>
      <p:bldP spid="35" grpId="0"/>
      <p:bldP spid="3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657919" y="1833326"/>
            <a:ext cx="1834832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滑块部件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854451" y="2512078"/>
            <a:ext cx="1409700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(lv_slider)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/>
          <p:cNvSpPr/>
          <p:nvPr/>
        </p:nvSpPr>
        <p:spPr>
          <a:xfrm>
            <a:off x="655468" y="2127250"/>
            <a:ext cx="3638924" cy="18034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7698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滑块部件（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lv_slider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0" y="1144788"/>
            <a:ext cx="65203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滑块部件常用于调节某个参数的值，它以直线滑动的形式来修改数值。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534360" y="2713869"/>
            <a:ext cx="210758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363959" y="289141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514909" y="2034919"/>
            <a:ext cx="19844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滑块部件组成部分：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533959" y="3127105"/>
            <a:ext cx="26511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指示器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(LV_PART_INDICATOR)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5363560" y="3311004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2167475" y="2670184"/>
            <a:ext cx="1832619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1306408" y="2670184"/>
            <a:ext cx="1053612" cy="1440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233141" y="2633959"/>
            <a:ext cx="2160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114069" y="2335702"/>
            <a:ext cx="507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40%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61" y="2595407"/>
            <a:ext cx="302997" cy="259711"/>
          </a:xfrm>
          <a:prstGeom prst="rect">
            <a:avLst/>
          </a:prstGeom>
        </p:spPr>
      </p:pic>
      <p:sp>
        <p:nvSpPr>
          <p:cNvPr id="17" name="矩形: 圆角 16"/>
          <p:cNvSpPr/>
          <p:nvPr/>
        </p:nvSpPr>
        <p:spPr>
          <a:xfrm>
            <a:off x="2167475" y="3386734"/>
            <a:ext cx="1832619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1306408" y="3386734"/>
            <a:ext cx="1296000" cy="1440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2506191" y="3350509"/>
            <a:ext cx="2160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393469" y="3052252"/>
            <a:ext cx="507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50%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77" y="3291634"/>
            <a:ext cx="339294" cy="316369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5533959" y="3540341"/>
            <a:ext cx="202670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旋钮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(LV_PART_KNOB)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363560" y="372424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9" grpId="0"/>
      <p:bldP spid="49" grpId="0"/>
      <p:bldP spid="50" grpId="0" animBg="1"/>
      <p:bldP spid="55" grpId="0"/>
      <p:bldP spid="51" grpId="0"/>
      <p:bldP spid="52" grpId="0" animBg="1"/>
      <p:bldP spid="3" grpId="0" animBg="1"/>
      <p:bldP spid="7" grpId="0" animBg="1"/>
      <p:bldP spid="10" grpId="0" animBg="1"/>
      <p:bldP spid="12" grpId="0"/>
      <p:bldP spid="17" grpId="0" animBg="1"/>
      <p:bldP spid="18" grpId="0" animBg="1"/>
      <p:bldP spid="19" grpId="0" animBg="1"/>
      <p:bldP spid="21" grpId="0"/>
      <p:bldP spid="25" grpId="0"/>
      <p:bldP spid="2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7" y="466454"/>
            <a:ext cx="270002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滑块部件（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lv_slider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687675"/>
            <a:ext cx="33625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*slider = lv_slider_create( parent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334927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：创建滑块部件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5124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2208884"/>
            <a:ext cx="32482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：设置大小、当前值、范围值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3864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45880" y="2574607"/>
            <a:ext cx="6953084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lv_obj_set_size(slider, 20, 200);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高度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&gt;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宽度时，滑块为纵向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lv_slider_set_value(slider, 50, LV_ANIM_OFF);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设置当前值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lv_slider_set_range(slider, -100, 100);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设置范围值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8580" y="3630094"/>
            <a:ext cx="2010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：获取当前值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8179" y="380764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58580" y="3995817"/>
            <a:ext cx="21370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lv_slider_get_value(</a:t>
            </a: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slider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);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: 圆角 38"/>
          <p:cNvSpPr/>
          <p:nvPr/>
        </p:nvSpPr>
        <p:spPr>
          <a:xfrm>
            <a:off x="4527550" y="1105683"/>
            <a:ext cx="4114800" cy="2103423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7" y="466454"/>
            <a:ext cx="270002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滑块部件（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lv_slider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897225"/>
            <a:ext cx="37054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lv_slider_set_mode(slider, LV_SLIDER_MODE_...);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544477"/>
            <a:ext cx="1768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：模式设置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7220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58580" y="3255444"/>
            <a:ext cx="23402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：设置、获取左值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8179" y="343299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58579" y="3621167"/>
            <a:ext cx="6753471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lv_slider_set_left_value(slider, 20, LV_ANIM_OFF);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设置左值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lv_slider_get_left_value(slider);	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获取左值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6900864" y="1400332"/>
            <a:ext cx="1423936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128238" y="1400332"/>
            <a:ext cx="887718" cy="1440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809703" y="1364107"/>
            <a:ext cx="2160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759080" y="1275548"/>
            <a:ext cx="10003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6128239" y="2012177"/>
            <a:ext cx="219656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6433818" y="2012177"/>
            <a:ext cx="837153" cy="1440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397738" y="1975952"/>
            <a:ext cx="2160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4759080" y="1900093"/>
            <a:ext cx="13432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SYMMETRICAL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689343" y="1491086"/>
            <a:ext cx="4546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-10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262565" y="2098685"/>
            <a:ext cx="507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- 40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096920" y="2098685"/>
            <a:ext cx="30558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6128238" y="2639730"/>
            <a:ext cx="2196561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6433817" y="2639730"/>
            <a:ext cx="1556876" cy="1440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6397737" y="2603505"/>
            <a:ext cx="2160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4759079" y="2527646"/>
            <a:ext cx="847971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RANGE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262564" y="2726580"/>
            <a:ext cx="507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- 40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094536" y="2726580"/>
            <a:ext cx="30558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7815209" y="2603505"/>
            <a:ext cx="2160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7709887" y="2726580"/>
            <a:ext cx="507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40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2" grpId="0"/>
      <p:bldP spid="12" grpId="0"/>
      <p:bldP spid="14" grpId="0" animBg="1"/>
      <p:bldP spid="8" grpId="0"/>
      <p:bldP spid="10" grpId="0" animBg="1"/>
      <p:bldP spid="16" grpId="0"/>
      <p:bldP spid="2" grpId="0" animBg="1"/>
      <p:bldP spid="3" grpId="0" animBg="1"/>
      <p:bldP spid="7" grpId="0" animBg="1"/>
      <p:bldP spid="22" grpId="0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 animBg="1"/>
      <p:bldP spid="31" grpId="0" animBg="1"/>
      <p:bldP spid="33" grpId="0" animBg="1"/>
      <p:bldP spid="34" grpId="0"/>
      <p:bldP spid="35" grpId="0"/>
      <p:bldP spid="36" grpId="0"/>
      <p:bldP spid="37" grpId="0" animBg="1"/>
      <p:bldP spid="3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702369" y="1833326"/>
            <a:ext cx="1834832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圆弧部件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4057651" y="2512078"/>
            <a:ext cx="1085849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(lv_arc)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/>
          <p:cNvSpPr/>
          <p:nvPr/>
        </p:nvSpPr>
        <p:spPr>
          <a:xfrm>
            <a:off x="649118" y="1860550"/>
            <a:ext cx="4094332" cy="25273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43761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圆弧部件（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lv_arc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0" y="1144788"/>
            <a:ext cx="525975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圆弧部件以弧形滑动的形式来调节、显示某个参数的值。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794309" y="2764669"/>
            <a:ext cx="217675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背景弧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624309" y="294221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775259" y="2085719"/>
            <a:ext cx="19844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圆弧部件组成部分：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794309" y="3177905"/>
            <a:ext cx="2700573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前景弧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(LV_PART_INDICATOR)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5623910" y="3361804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434096" y="3079054"/>
            <a:ext cx="63384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29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℃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794309" y="3591141"/>
            <a:ext cx="202670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旋钮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(LV_PART_KNOB)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623910" y="377504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空心弧 1"/>
          <p:cNvSpPr/>
          <p:nvPr/>
        </p:nvSpPr>
        <p:spPr>
          <a:xfrm>
            <a:off x="1172532" y="2764993"/>
            <a:ext cx="1080000" cy="1080000"/>
          </a:xfrm>
          <a:prstGeom prst="blockArc">
            <a:avLst>
              <a:gd name="adj1" fmla="val 7933387"/>
              <a:gd name="adj2" fmla="val 19942869"/>
              <a:gd name="adj3" fmla="val 12744"/>
            </a:avLst>
          </a:prstGeom>
          <a:solidFill>
            <a:srgbClr val="00B0F0"/>
          </a:solidFill>
          <a:ln w="127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空心弧 21"/>
          <p:cNvSpPr/>
          <p:nvPr/>
        </p:nvSpPr>
        <p:spPr>
          <a:xfrm>
            <a:off x="1172532" y="2765377"/>
            <a:ext cx="1080000" cy="1080000"/>
          </a:xfrm>
          <a:prstGeom prst="blockArc">
            <a:avLst>
              <a:gd name="adj1" fmla="val 19892368"/>
              <a:gd name="adj2" fmla="val 2983452"/>
              <a:gd name="adj3" fmla="val 12238"/>
            </a:avLst>
          </a:prstGeom>
          <a:solidFill>
            <a:schemeClr val="bg1">
              <a:lumMod val="85000"/>
            </a:schemeClr>
          </a:solidFill>
          <a:ln w="127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2017490" y="2996456"/>
            <a:ext cx="2160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1330438" y="3588798"/>
            <a:ext cx="136800" cy="13680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1958614" y="3590557"/>
            <a:ext cx="136800" cy="1368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982143" y="3621951"/>
            <a:ext cx="36715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15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267879" y="3714934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1111021" y="3112226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1688878" y="2696684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2134035" y="3719022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2113517" y="3619434"/>
            <a:ext cx="36715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35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2278043" y="3112226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2056377" y="1987867"/>
            <a:ext cx="122715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Control  Center</a:t>
            </a:r>
            <a:endParaRPr lang="zh-CN" altLang="en-US" sz="11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 flipV="1">
            <a:off x="1556591" y="2367742"/>
            <a:ext cx="2160000" cy="635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3336743" y="3079054"/>
            <a:ext cx="58339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72%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3" name="空心弧 42"/>
          <p:cNvSpPr/>
          <p:nvPr/>
        </p:nvSpPr>
        <p:spPr>
          <a:xfrm>
            <a:off x="3056129" y="2764993"/>
            <a:ext cx="1080000" cy="1080000"/>
          </a:xfrm>
          <a:prstGeom prst="blockArc">
            <a:avLst>
              <a:gd name="adj1" fmla="val 7933387"/>
              <a:gd name="adj2" fmla="val 19942869"/>
              <a:gd name="adj3" fmla="val 12744"/>
            </a:avLst>
          </a:prstGeom>
          <a:solidFill>
            <a:srgbClr val="00B0F0"/>
          </a:solidFill>
          <a:ln w="127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空心弧 43"/>
          <p:cNvSpPr/>
          <p:nvPr/>
        </p:nvSpPr>
        <p:spPr>
          <a:xfrm>
            <a:off x="3056129" y="2765377"/>
            <a:ext cx="1080000" cy="1080000"/>
          </a:xfrm>
          <a:prstGeom prst="blockArc">
            <a:avLst>
              <a:gd name="adj1" fmla="val 19892368"/>
              <a:gd name="adj2" fmla="val 2983452"/>
              <a:gd name="adj3" fmla="val 12238"/>
            </a:avLst>
          </a:prstGeom>
          <a:solidFill>
            <a:schemeClr val="bg1">
              <a:lumMod val="85000"/>
            </a:schemeClr>
          </a:solidFill>
          <a:ln w="127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3901087" y="2996456"/>
            <a:ext cx="2160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3214035" y="3588798"/>
            <a:ext cx="136800" cy="13680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3842211" y="3590557"/>
            <a:ext cx="136800" cy="1368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2948290" y="3621951"/>
            <a:ext cx="36715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3151476" y="3714934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2994618" y="3112226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/>
        </p:nvSpPr>
        <p:spPr>
          <a:xfrm>
            <a:off x="3572475" y="2696684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/>
        </p:nvSpPr>
        <p:spPr>
          <a:xfrm>
            <a:off x="4017632" y="3719022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3997113" y="3619434"/>
            <a:ext cx="47534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100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4161640" y="3112226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1473588" y="3848947"/>
            <a:ext cx="46275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温度</a:t>
            </a:r>
            <a:endParaRPr lang="zh-CN" altLang="en-US" sz="11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377241" y="3848947"/>
            <a:ext cx="46275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湿度</a:t>
            </a:r>
            <a:endParaRPr lang="zh-CN" altLang="en-US" sz="11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9" grpId="0"/>
      <p:bldP spid="49" grpId="0"/>
      <p:bldP spid="50" grpId="0" animBg="1"/>
      <p:bldP spid="55" grpId="0"/>
      <p:bldP spid="51" grpId="0"/>
      <p:bldP spid="52" grpId="0" animBg="1"/>
      <p:bldP spid="21" grpId="0"/>
      <p:bldP spid="25" grpId="0"/>
      <p:bldP spid="26" grpId="0" animBg="1"/>
      <p:bldP spid="2" grpId="0" animBg="1"/>
      <p:bldP spid="22" grpId="0" animBg="1"/>
      <p:bldP spid="8" grpId="0" animBg="1"/>
      <p:bldP spid="23" grpId="0" animBg="1"/>
      <p:bldP spid="27" grpId="0" animBg="1"/>
      <p:bldP spid="28" grpId="0"/>
      <p:bldP spid="30" grpId="0" animBg="1"/>
      <p:bldP spid="31" grpId="0" animBg="1"/>
      <p:bldP spid="33" grpId="0" animBg="1"/>
      <p:bldP spid="35" grpId="0" animBg="1"/>
      <p:bldP spid="36" grpId="0"/>
      <p:bldP spid="37" grpId="0" animBg="1"/>
      <p:bldP spid="38" grpId="0"/>
      <p:bldP spid="42" grpId="0"/>
      <p:bldP spid="43" grpId="0" animBg="1"/>
      <p:bldP spid="44" grpId="0" animBg="1"/>
      <p:bldP spid="45" grpId="0" animBg="1"/>
      <p:bldP spid="46" grpId="0" animBg="1"/>
      <p:bldP spid="47" grpId="0" animBg="1"/>
      <p:bldP spid="48" grpId="0"/>
      <p:bldP spid="53" grpId="0" animBg="1"/>
      <p:bldP spid="54" grpId="0" animBg="1"/>
      <p:bldP spid="56" grpId="0" animBg="1"/>
      <p:bldP spid="57" grpId="0" animBg="1"/>
      <p:bldP spid="58" grpId="0"/>
      <p:bldP spid="59" grpId="0" animBg="1"/>
      <p:bldP spid="60" grpId="0"/>
      <p:bldP spid="6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7" y="466454"/>
            <a:ext cx="232664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圆弧部件（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lv_arc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700375"/>
            <a:ext cx="30006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*arc = lv_arc_create( parent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347627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：创建圆弧部件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5251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2278734"/>
            <a:ext cx="266865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：设置当前值、范围值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4562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2643527"/>
            <a:ext cx="74011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lv_arc_set_value(arc, 80);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设置当前值（需要在范围值之内）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lv_arc_set_range(arc, 0, 200);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设置范围值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8580" y="3445944"/>
            <a:ext cx="2137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：设置圆弧角度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8179" y="362349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58580" y="3811667"/>
            <a:ext cx="6278707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lv_arc_set_angles(arc, 135, 270);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设置前景弧角度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lv_arc_set_bg_angles(arc, 135, 45);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设置背景弧角度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5335266" y="545684"/>
            <a:ext cx="2602234" cy="2018871"/>
            <a:chOff x="5335266" y="545684"/>
            <a:chExt cx="2602234" cy="2018871"/>
          </a:xfrm>
        </p:grpSpPr>
        <p:sp>
          <p:nvSpPr>
            <p:cNvPr id="91" name="空心弧 90"/>
            <p:cNvSpPr/>
            <p:nvPr/>
          </p:nvSpPr>
          <p:spPr>
            <a:xfrm>
              <a:off x="5804803" y="1023480"/>
              <a:ext cx="1082470" cy="1080000"/>
            </a:xfrm>
            <a:prstGeom prst="blockArc">
              <a:avLst>
                <a:gd name="adj1" fmla="val 8462298"/>
                <a:gd name="adj2" fmla="val 16787747"/>
                <a:gd name="adj3" fmla="val 12783"/>
              </a:avLst>
            </a:prstGeom>
            <a:solidFill>
              <a:srgbClr val="00B0F0"/>
            </a:solidFill>
            <a:ln w="1270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空心弧 91"/>
            <p:cNvSpPr/>
            <p:nvPr/>
          </p:nvSpPr>
          <p:spPr>
            <a:xfrm>
              <a:off x="5804803" y="1021483"/>
              <a:ext cx="1082470" cy="1080000"/>
            </a:xfrm>
            <a:prstGeom prst="blockArc">
              <a:avLst>
                <a:gd name="adj1" fmla="val 16695106"/>
                <a:gd name="adj2" fmla="val 2292237"/>
                <a:gd name="adj3" fmla="val 13042"/>
              </a:avLst>
            </a:prstGeom>
            <a:solidFill>
              <a:schemeClr val="bg1">
                <a:lumMod val="85000"/>
              </a:schemeClr>
            </a:solidFill>
            <a:ln w="1270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3" name="椭圆 92"/>
            <p:cNvSpPr/>
            <p:nvPr/>
          </p:nvSpPr>
          <p:spPr>
            <a:xfrm>
              <a:off x="6237791" y="983094"/>
              <a:ext cx="216494" cy="216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椭圆 93"/>
            <p:cNvSpPr/>
            <p:nvPr/>
          </p:nvSpPr>
          <p:spPr>
            <a:xfrm>
              <a:off x="5910567" y="1792521"/>
              <a:ext cx="137113" cy="1368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/>
            <p:cNvSpPr/>
            <p:nvPr/>
          </p:nvSpPr>
          <p:spPr>
            <a:xfrm>
              <a:off x="6649968" y="1779991"/>
              <a:ext cx="137113" cy="1368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6848854" y="1223393"/>
              <a:ext cx="509831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360°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97" name="直接连接符 96"/>
            <p:cNvCxnSpPr/>
            <p:nvPr/>
          </p:nvCxnSpPr>
          <p:spPr>
            <a:xfrm>
              <a:off x="6346298" y="857250"/>
              <a:ext cx="4513" cy="1466306"/>
            </a:xfrm>
            <a:prstGeom prst="line">
              <a:avLst/>
            </a:prstGeom>
            <a:ln w="9525" cap="flat" cmpd="sng" algn="ctr">
              <a:solidFill>
                <a:srgbClr val="00206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>
              <a:off x="5551177" y="1562422"/>
              <a:ext cx="1589723" cy="0"/>
            </a:xfrm>
            <a:prstGeom prst="line">
              <a:avLst/>
            </a:prstGeom>
            <a:ln w="9525" cap="flat" cmpd="sng" algn="ctr">
              <a:solidFill>
                <a:srgbClr val="00206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V="1">
              <a:off x="5653815" y="1567912"/>
              <a:ext cx="692483" cy="731074"/>
            </a:xfrm>
            <a:prstGeom prst="line">
              <a:avLst/>
            </a:prstGeom>
            <a:ln w="9525" cap="flat" cmpd="sng" algn="ctr">
              <a:solidFill>
                <a:srgbClr val="00206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>
              <a:off x="6355331" y="1567549"/>
              <a:ext cx="725733" cy="731437"/>
            </a:xfrm>
            <a:prstGeom prst="line">
              <a:avLst/>
            </a:prstGeom>
            <a:ln w="9525" cap="flat" cmpd="sng" algn="ctr">
              <a:solidFill>
                <a:srgbClr val="00206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1" name="文本框 100"/>
            <p:cNvSpPr txBox="1"/>
            <p:nvPr/>
          </p:nvSpPr>
          <p:spPr>
            <a:xfrm>
              <a:off x="6937957" y="1511133"/>
              <a:ext cx="37824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0°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6612574" y="2069074"/>
              <a:ext cx="433923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45°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6175201" y="2248186"/>
              <a:ext cx="433923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90°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5695650" y="2064333"/>
              <a:ext cx="49593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135°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5335266" y="1226555"/>
              <a:ext cx="49593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180°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6117689" y="545684"/>
              <a:ext cx="526993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270°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7294993" y="2128005"/>
              <a:ext cx="642507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顺时针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90" name="连接符: 曲线 89"/>
            <p:cNvCxnSpPr/>
            <p:nvPr/>
          </p:nvCxnSpPr>
          <p:spPr>
            <a:xfrm rot="10800000" flipV="1">
              <a:off x="6764341" y="2086132"/>
              <a:ext cx="530653" cy="461452"/>
            </a:xfrm>
            <a:prstGeom prst="curvedConnector3">
              <a:avLst>
                <a:gd name="adj1" fmla="val -1573"/>
              </a:avLst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7" y="466454"/>
            <a:ext cx="232664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圆弧部件（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lv_arc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751175"/>
            <a:ext cx="22703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lv_arc_set_rotation(arc, 180);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398427"/>
            <a:ext cx="21179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：设置旋转角度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5759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2297784"/>
            <a:ext cx="192306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：获取当前值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4753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2662577"/>
            <a:ext cx="17560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lv_arc_get_value(arc);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8580" y="3191944"/>
            <a:ext cx="3026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6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：设置模式、圆弧绘制速率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8179" y="336949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58580" y="3557667"/>
            <a:ext cx="682332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lv_arc_set_mode(arc, LV_ARC_MODE_REVERSE);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设置模式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lv_arc_set_change_rate(arc, 90);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绘制速率：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90°/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秒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5449566" y="1057699"/>
            <a:ext cx="2564135" cy="2095071"/>
            <a:chOff x="5449566" y="1057699"/>
            <a:chExt cx="2564135" cy="2095071"/>
          </a:xfrm>
        </p:grpSpPr>
        <p:grpSp>
          <p:nvGrpSpPr>
            <p:cNvPr id="50" name="组合 49"/>
            <p:cNvGrpSpPr/>
            <p:nvPr/>
          </p:nvGrpSpPr>
          <p:grpSpPr>
            <a:xfrm>
              <a:off x="5449566" y="1057699"/>
              <a:ext cx="2018802" cy="2095071"/>
              <a:chOff x="5379716" y="486199"/>
              <a:chExt cx="2018802" cy="2095071"/>
            </a:xfrm>
          </p:grpSpPr>
          <p:sp>
            <p:nvSpPr>
              <p:cNvPr id="3" name="空心弧 2"/>
              <p:cNvSpPr/>
              <p:nvPr/>
            </p:nvSpPr>
            <p:spPr>
              <a:xfrm>
                <a:off x="5848182" y="989395"/>
                <a:ext cx="1080000" cy="1080000"/>
              </a:xfrm>
              <a:prstGeom prst="blockArc">
                <a:avLst>
                  <a:gd name="adj1" fmla="val 8462298"/>
                  <a:gd name="adj2" fmla="val 16787747"/>
                  <a:gd name="adj3" fmla="val 12783"/>
                </a:avLst>
              </a:prstGeom>
              <a:solidFill>
                <a:srgbClr val="00B0F0"/>
              </a:solidFill>
              <a:ln w="12700" cap="rnd">
                <a:noFill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空心弧 6"/>
              <p:cNvSpPr/>
              <p:nvPr/>
            </p:nvSpPr>
            <p:spPr>
              <a:xfrm>
                <a:off x="5848182" y="987398"/>
                <a:ext cx="1080000" cy="1080000"/>
              </a:xfrm>
              <a:prstGeom prst="blockArc">
                <a:avLst>
                  <a:gd name="adj1" fmla="val 16695106"/>
                  <a:gd name="adj2" fmla="val 2292237"/>
                  <a:gd name="adj3" fmla="val 13042"/>
                </a:avLst>
              </a:prstGeom>
              <a:solidFill>
                <a:schemeClr val="bg1">
                  <a:lumMod val="85000"/>
                </a:schemeClr>
              </a:solidFill>
              <a:ln w="12700" cap="rnd">
                <a:noFill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6280182" y="949009"/>
                <a:ext cx="216000" cy="216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5953704" y="1758436"/>
                <a:ext cx="136800" cy="1368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6693794" y="1748287"/>
                <a:ext cx="136800" cy="1368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6889850" y="1189308"/>
                <a:ext cx="508668" cy="316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360°</a:t>
                </a:r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>
                <a:off x="6392944" y="763993"/>
                <a:ext cx="0" cy="1576278"/>
              </a:xfrm>
              <a:prstGeom prst="line">
                <a:avLst/>
              </a:prstGeom>
              <a:ln w="9525" cap="flat" cmpd="sng" algn="ctr">
                <a:solidFill>
                  <a:srgbClr val="00206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5595134" y="1528337"/>
                <a:ext cx="1586096" cy="0"/>
              </a:xfrm>
              <a:prstGeom prst="line">
                <a:avLst/>
              </a:prstGeom>
              <a:ln w="9525" cap="flat" cmpd="sng" algn="ctr">
                <a:solidFill>
                  <a:srgbClr val="00206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V="1">
                <a:off x="5681133" y="1533827"/>
                <a:ext cx="707308" cy="743317"/>
              </a:xfrm>
              <a:prstGeom prst="line">
                <a:avLst/>
              </a:prstGeom>
              <a:ln w="9525" cap="flat" cmpd="sng" algn="ctr">
                <a:solidFill>
                  <a:srgbClr val="00206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>
                <a:off x="6399829" y="1533464"/>
                <a:ext cx="707308" cy="743317"/>
              </a:xfrm>
              <a:prstGeom prst="line">
                <a:avLst/>
              </a:prstGeom>
              <a:ln w="9525" cap="flat" cmpd="sng" algn="ctr">
                <a:solidFill>
                  <a:srgbClr val="00206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43" name="文本框 42"/>
              <p:cNvSpPr txBox="1"/>
              <p:nvPr/>
            </p:nvSpPr>
            <p:spPr>
              <a:xfrm>
                <a:off x="6978750" y="1477048"/>
                <a:ext cx="377379" cy="316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0°</a:t>
                </a:r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6654109" y="2034989"/>
                <a:ext cx="432933" cy="316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45°</a:t>
                </a:r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6217734" y="2264901"/>
                <a:ext cx="432933" cy="316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90°</a:t>
                </a:r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5739278" y="2030248"/>
                <a:ext cx="494806" cy="316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135°</a:t>
                </a:r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5379716" y="1192470"/>
                <a:ext cx="494806" cy="316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180°</a:t>
                </a:r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6160354" y="486199"/>
                <a:ext cx="525791" cy="316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270°</a:t>
                </a:r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</p:grpSp>
        <p:sp>
          <p:nvSpPr>
            <p:cNvPr id="2" name="文本框 1"/>
            <p:cNvSpPr txBox="1"/>
            <p:nvPr/>
          </p:nvSpPr>
          <p:spPr>
            <a:xfrm>
              <a:off x="7404823" y="2722570"/>
              <a:ext cx="60887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顺时针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23" name="连接符: 曲线 22"/>
            <p:cNvCxnSpPr/>
            <p:nvPr/>
          </p:nvCxnSpPr>
          <p:spPr>
            <a:xfrm rot="10800000" flipV="1">
              <a:off x="6875380" y="2680697"/>
              <a:ext cx="529442" cy="461452"/>
            </a:xfrm>
            <a:prstGeom prst="curvedConnector3">
              <a:avLst>
                <a:gd name="adj1" fmla="val -1573"/>
              </a:avLst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683319" y="1833326"/>
            <a:ext cx="1834832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线条部件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981451" y="2512078"/>
            <a:ext cx="1085849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(lv_line)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43761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线条部件（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lv_line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0" y="1144788"/>
            <a:ext cx="43994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线条部件能够在一组坐标点之间依次绘制直线。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794309" y="3018669"/>
            <a:ext cx="198444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624309" y="319621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775259" y="2339719"/>
            <a:ext cx="192370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线条部件组成部分：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49118" y="1955800"/>
            <a:ext cx="3618082" cy="2359226"/>
            <a:chOff x="649118" y="1955800"/>
            <a:chExt cx="3618082" cy="2359226"/>
          </a:xfrm>
        </p:grpSpPr>
        <p:sp>
          <p:nvSpPr>
            <p:cNvPr id="20" name="矩形: 圆角 19"/>
            <p:cNvSpPr/>
            <p:nvPr/>
          </p:nvSpPr>
          <p:spPr>
            <a:xfrm>
              <a:off x="649118" y="1955800"/>
              <a:ext cx="3618082" cy="2359226"/>
            </a:xfrm>
            <a:prstGeom prst="roundRect">
              <a:avLst>
                <a:gd name="adj" fmla="val 6229"/>
              </a:avLst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952500" y="3229851"/>
              <a:ext cx="44450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150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3478473" y="2014957"/>
              <a:ext cx="30678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X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52500" y="3590966"/>
              <a:ext cx="44450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200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952500" y="2868736"/>
              <a:ext cx="44450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100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028700" y="2507621"/>
              <a:ext cx="36830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50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63" name="直接箭头连接符 62"/>
            <p:cNvCxnSpPr/>
            <p:nvPr/>
          </p:nvCxnSpPr>
          <p:spPr>
            <a:xfrm>
              <a:off x="1327991" y="2333625"/>
              <a:ext cx="2340000" cy="0"/>
            </a:xfrm>
            <a:prstGeom prst="straightConnector1">
              <a:avLst/>
            </a:prstGeom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/>
            <p:nvPr/>
          </p:nvCxnSpPr>
          <p:spPr>
            <a:xfrm>
              <a:off x="1327991" y="2328859"/>
              <a:ext cx="0" cy="1800000"/>
            </a:xfrm>
            <a:prstGeom prst="straightConnector1">
              <a:avLst/>
            </a:prstGeom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6" name="文本框 65"/>
            <p:cNvSpPr txBox="1"/>
            <p:nvPr/>
          </p:nvSpPr>
          <p:spPr>
            <a:xfrm>
              <a:off x="1069979" y="3896142"/>
              <a:ext cx="30678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Y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083172" y="2146506"/>
              <a:ext cx="26555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521921" y="2014873"/>
              <a:ext cx="36830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50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1809998" y="2014873"/>
              <a:ext cx="46725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100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197027" y="2014873"/>
              <a:ext cx="46725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150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584056" y="2014873"/>
              <a:ext cx="46725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200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2971083" y="2014873"/>
              <a:ext cx="46725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250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2041846" y="2431000"/>
              <a:ext cx="84236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（</a:t>
              </a:r>
              <a:r>
                <a:rPr lang="en-US" altLang="zh-CN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150,50</a:t>
              </a: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）</a:t>
              </a:r>
              <a:endPara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352971" y="3789200"/>
              <a:ext cx="786976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（</a:t>
              </a:r>
              <a:r>
                <a:rPr lang="en-US" altLang="zh-CN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50,200</a:t>
              </a: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）</a:t>
              </a:r>
              <a:endPara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2691290" y="3789200"/>
              <a:ext cx="917092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（</a:t>
              </a:r>
              <a:r>
                <a:rPr lang="en-US" altLang="zh-CN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250,200</a:t>
              </a: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）</a:t>
              </a:r>
              <a:endPara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" name="等腰三角形 1"/>
            <p:cNvSpPr/>
            <p:nvPr/>
          </p:nvSpPr>
          <p:spPr>
            <a:xfrm>
              <a:off x="1700461" y="2702717"/>
              <a:ext cx="1512000" cy="1080000"/>
            </a:xfrm>
            <a:prstGeom prst="triangl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7" y="466454"/>
            <a:ext cx="252857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线条部件（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lv_line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478125"/>
            <a:ext cx="31149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*line = lv_line_create( parent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150777"/>
            <a:ext cx="21179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：创建线条部件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3283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1859634"/>
            <a:ext cx="2276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：设置线条坐标点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0371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45880" y="2193607"/>
            <a:ext cx="488555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static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lv_point_t  line_points[] = { {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15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}, {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25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}, {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}, {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15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 };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lv_line_set_points(line, line_points, 4);</a:t>
            </a: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5880" y="2874749"/>
            <a:ext cx="21751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：设置线条样式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5479" y="305229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45879" y="3202372"/>
            <a:ext cx="5771358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line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_width(line, 8, LV_PART_MAIN);           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设置宽度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line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_rounded(line, true, LV_PART_MAIN);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	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设置圆角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642213" y="1717769"/>
            <a:ext cx="36711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15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564936" y="812436"/>
            <a:ext cx="30678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X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648563" y="1975695"/>
            <a:ext cx="36711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642213" y="1459841"/>
            <a:ext cx="36711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718413" y="1201913"/>
            <a:ext cx="29091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>
            <a:off x="6960554" y="1131104"/>
            <a:ext cx="1800000" cy="0"/>
          </a:xfrm>
          <a:prstGeom prst="straightConnector1">
            <a:avLst/>
          </a:prstGeom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6960554" y="1126338"/>
            <a:ext cx="0" cy="1440000"/>
          </a:xfrm>
          <a:prstGeom prst="straightConnector1">
            <a:avLst/>
          </a:prstGeom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6702542" y="2331671"/>
            <a:ext cx="30678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Y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715735" y="943985"/>
            <a:ext cx="265552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040184" y="812352"/>
            <a:ext cx="27704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263173" y="812352"/>
            <a:ext cx="36830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585114" y="812352"/>
            <a:ext cx="36830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15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907055" y="812352"/>
            <a:ext cx="36830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228996" y="812352"/>
            <a:ext cx="36830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25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6642213" y="2775263"/>
            <a:ext cx="2229511" cy="1819538"/>
            <a:chOff x="6566013" y="2787963"/>
            <a:chExt cx="2229511" cy="1819538"/>
          </a:xfrm>
        </p:grpSpPr>
        <p:sp>
          <p:nvSpPr>
            <p:cNvPr id="73" name="文本框 72"/>
            <p:cNvSpPr txBox="1"/>
            <p:nvPr/>
          </p:nvSpPr>
          <p:spPr>
            <a:xfrm>
              <a:off x="6566013" y="3434934"/>
              <a:ext cx="373466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15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8488736" y="4020667"/>
              <a:ext cx="30678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X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6572363" y="3184464"/>
              <a:ext cx="367116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6566013" y="3713982"/>
              <a:ext cx="353883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6656502" y="3978742"/>
              <a:ext cx="282977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5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78" name="直接箭头连接符 77"/>
            <p:cNvCxnSpPr/>
            <p:nvPr/>
          </p:nvCxnSpPr>
          <p:spPr>
            <a:xfrm>
              <a:off x="6884354" y="4346478"/>
              <a:ext cx="1800000" cy="0"/>
            </a:xfrm>
            <a:prstGeom prst="straightConnector1">
              <a:avLst/>
            </a:prstGeom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/>
            <p:nvPr/>
          </p:nvCxnSpPr>
          <p:spPr>
            <a:xfrm rot="10800000">
              <a:off x="6884354" y="2911376"/>
              <a:ext cx="0" cy="1440000"/>
            </a:xfrm>
            <a:prstGeom prst="straightConnector1">
              <a:avLst/>
            </a:prstGeom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0" name="文本框 79"/>
            <p:cNvSpPr txBox="1"/>
            <p:nvPr/>
          </p:nvSpPr>
          <p:spPr>
            <a:xfrm>
              <a:off x="6626342" y="2787963"/>
              <a:ext cx="30678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Y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6672876" y="4291132"/>
              <a:ext cx="26555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6963984" y="4289666"/>
              <a:ext cx="292784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5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7186973" y="4289666"/>
              <a:ext cx="36830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7508914" y="4289666"/>
              <a:ext cx="36830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15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7830855" y="4289666"/>
              <a:ext cx="382299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8152796" y="4289666"/>
              <a:ext cx="36830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25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7622764" y="4017365"/>
              <a:ext cx="590390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（</a:t>
              </a:r>
              <a:r>
                <a:rPr lang="en-US" altLang="zh-CN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15,5</a:t>
              </a: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）</a:t>
              </a:r>
              <a:endPara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6825658" y="3068745"/>
              <a:ext cx="646421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（</a:t>
              </a:r>
              <a:r>
                <a:rPr lang="en-US" altLang="zh-CN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5,20</a:t>
              </a: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）</a:t>
              </a:r>
              <a:endPara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7966143" y="3061669"/>
              <a:ext cx="71155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（</a:t>
              </a:r>
              <a:r>
                <a:rPr lang="en-US" altLang="zh-CN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25,20</a:t>
              </a: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）</a:t>
              </a:r>
              <a:endPara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90" name="等腰三角形 89"/>
            <p:cNvSpPr/>
            <p:nvPr/>
          </p:nvSpPr>
          <p:spPr>
            <a:xfrm rot="10800000">
              <a:off x="7099412" y="3370388"/>
              <a:ext cx="1235209" cy="802382"/>
            </a:xfrm>
            <a:prstGeom prst="triangle">
              <a:avLst>
                <a:gd name="adj" fmla="val 48844"/>
              </a:avLst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4" name="文本框 93"/>
          <p:cNvSpPr txBox="1"/>
          <p:nvPr/>
        </p:nvSpPr>
        <p:spPr>
          <a:xfrm>
            <a:off x="745880" y="3905598"/>
            <a:ext cx="21141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y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轴反转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5" name="椭圆 94"/>
          <p:cNvSpPr/>
          <p:nvPr/>
        </p:nvSpPr>
        <p:spPr>
          <a:xfrm>
            <a:off x="575479" y="408314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745880" y="4226871"/>
            <a:ext cx="23592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lv_line_set_y_invert(line, true);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7764646" y="1368648"/>
            <a:ext cx="636651" cy="80238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7177993" y="1368648"/>
            <a:ext cx="593652" cy="80238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7173231" y="2171933"/>
            <a:ext cx="123520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7631955" y="1146913"/>
            <a:ext cx="657399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15,5</a:t>
            </a:r>
            <a:r>
              <a: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000">
              <a:solidFill>
                <a:schemeClr val="bg2">
                  <a:lumMod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64463" y="2101549"/>
            <a:ext cx="646421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5,20</a:t>
            </a:r>
            <a:r>
              <a: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000">
              <a:solidFill>
                <a:schemeClr val="bg2">
                  <a:lumMod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080443" y="2104251"/>
            <a:ext cx="711555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25,20</a:t>
            </a:r>
            <a:r>
              <a: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000">
              <a:solidFill>
                <a:schemeClr val="bg2">
                  <a:lumMod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  <p:bldP spid="37" grpId="0"/>
      <p:bldP spid="38" grpId="0"/>
      <p:bldP spid="39" grpId="0"/>
      <p:bldP spid="40" grpId="0"/>
      <p:bldP spid="41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94" grpId="0"/>
      <p:bldP spid="95" grpId="0" animBg="1"/>
      <p:bldP spid="96" grpId="0"/>
      <p:bldP spid="29" grpId="0"/>
      <p:bldP spid="30" grpId="0"/>
      <p:bldP spid="3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708719" y="1833326"/>
            <a:ext cx="1834832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4006851" y="2512078"/>
            <a:ext cx="1085849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(lv_img)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43761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lv_img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0" y="1043188"/>
            <a:ext cx="525975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图片部件可用于图片显示、功能界面优化、背景优化等。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900809" y="3064372"/>
            <a:ext cx="19653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730809" y="324192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881759" y="2385422"/>
            <a:ext cx="19844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图片部件组成部分：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642768" y="1720850"/>
            <a:ext cx="3732382" cy="2774950"/>
            <a:chOff x="642768" y="1803400"/>
            <a:chExt cx="3732382" cy="2774950"/>
          </a:xfrm>
        </p:grpSpPr>
        <p:sp>
          <p:nvSpPr>
            <p:cNvPr id="3" name="矩形: 圆角 2"/>
            <p:cNvSpPr/>
            <p:nvPr/>
          </p:nvSpPr>
          <p:spPr>
            <a:xfrm>
              <a:off x="642768" y="1803400"/>
              <a:ext cx="3732382" cy="2774950"/>
            </a:xfrm>
            <a:prstGeom prst="roundRect">
              <a:avLst>
                <a:gd name="adj" fmla="val 6229"/>
              </a:avLst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266458" y="2421044"/>
              <a:ext cx="178484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bg1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20~30</a:t>
              </a:r>
              <a:r>
                <a:rPr lang="zh-CN" altLang="en-US" sz="1100">
                  <a:solidFill>
                    <a:schemeClr val="bg1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℃   西北风</a:t>
              </a:r>
              <a:r>
                <a:rPr lang="en-US" altLang="zh-CN" sz="1100">
                  <a:solidFill>
                    <a:schemeClr val="bg1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3~4</a:t>
              </a:r>
              <a:r>
                <a:rPr lang="zh-CN" altLang="en-US" sz="1100">
                  <a:solidFill>
                    <a:schemeClr val="bg1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级</a:t>
              </a:r>
              <a:endParaRPr lang="zh-CN" altLang="en-US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266459" y="2040227"/>
              <a:ext cx="1276841" cy="4181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>
                  <a:solidFill>
                    <a:schemeClr val="bg2">
                      <a:lumMod val="1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多云  </a:t>
              </a:r>
              <a:r>
                <a:rPr lang="en-US" altLang="zh-CN" sz="1600">
                  <a:solidFill>
                    <a:schemeClr val="bg2">
                      <a:lumMod val="1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26</a:t>
              </a:r>
              <a:r>
                <a:rPr lang="zh-CN" altLang="en-US" sz="1600">
                  <a:solidFill>
                    <a:schemeClr val="bg2">
                      <a:lumMod val="1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℃</a:t>
              </a:r>
              <a:endParaRPr lang="zh-CN" altLang="en-US" sz="1600">
                <a:solidFill>
                  <a:schemeClr val="bg2">
                    <a:lumMod val="1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V="1">
              <a:off x="2073369" y="2047809"/>
              <a:ext cx="0" cy="822154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: 圆角 13"/>
            <p:cNvSpPr/>
            <p:nvPr/>
          </p:nvSpPr>
          <p:spPr>
            <a:xfrm>
              <a:off x="1178208" y="3979872"/>
              <a:ext cx="432000" cy="216000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ea typeface="思源黑体 CN Normal" panose="020B0400000000000000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414217" y="3996539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149316" y="3611005"/>
              <a:ext cx="539659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制冷</a:t>
              </a:r>
              <a:endPara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990697" y="3060700"/>
              <a:ext cx="845217" cy="1279494"/>
            </a:xfrm>
            <a:prstGeom prst="roundRect">
              <a:avLst>
                <a:gd name="adj" fmla="val 6229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242233" y="3611005"/>
              <a:ext cx="539659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加热</a:t>
              </a:r>
              <a:endPara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4" name="矩形: 圆角 33"/>
            <p:cNvSpPr/>
            <p:nvPr/>
          </p:nvSpPr>
          <p:spPr>
            <a:xfrm>
              <a:off x="2064261" y="3060700"/>
              <a:ext cx="845217" cy="1279494"/>
            </a:xfrm>
            <a:prstGeom prst="roundRect">
              <a:avLst>
                <a:gd name="adj" fmla="val 6229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7694" y="3171280"/>
              <a:ext cx="481173" cy="490208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95632" y="3161754"/>
              <a:ext cx="539658" cy="553424"/>
            </a:xfrm>
            <a:prstGeom prst="rect">
              <a:avLst/>
            </a:prstGeom>
          </p:spPr>
        </p:pic>
        <p:sp>
          <p:nvSpPr>
            <p:cNvPr id="64" name="文本框 63"/>
            <p:cNvSpPr txBox="1"/>
            <p:nvPr/>
          </p:nvSpPr>
          <p:spPr>
            <a:xfrm>
              <a:off x="3347245" y="3614303"/>
              <a:ext cx="539659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除湿</a:t>
              </a:r>
              <a:endPara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5" name="矩形: 圆角 64"/>
            <p:cNvSpPr/>
            <p:nvPr/>
          </p:nvSpPr>
          <p:spPr>
            <a:xfrm>
              <a:off x="3156874" y="3063998"/>
              <a:ext cx="845217" cy="1279494"/>
            </a:xfrm>
            <a:prstGeom prst="roundRect">
              <a:avLst>
                <a:gd name="adj" fmla="val 6229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6" name="图片 6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68266" y="3205410"/>
              <a:ext cx="454657" cy="442097"/>
            </a:xfrm>
            <a:prstGeom prst="rect">
              <a:avLst/>
            </a:prstGeom>
          </p:spPr>
        </p:pic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7443" y="1996899"/>
              <a:ext cx="850859" cy="827003"/>
            </a:xfrm>
            <a:prstGeom prst="rect">
              <a:avLst/>
            </a:prstGeom>
          </p:spPr>
        </p:pic>
        <p:sp>
          <p:nvSpPr>
            <p:cNvPr id="73" name="矩形: 圆角 72"/>
            <p:cNvSpPr/>
            <p:nvPr/>
          </p:nvSpPr>
          <p:spPr>
            <a:xfrm>
              <a:off x="3371953" y="3979872"/>
              <a:ext cx="432000" cy="216000"/>
            </a:xfrm>
            <a:prstGeom prst="roundRect">
              <a:avLst>
                <a:gd name="adj" fmla="val 50000"/>
              </a:avLst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ea typeface="思源黑体 CN Normal" panose="020B0400000000000000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3607962" y="3996539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: 圆角 74"/>
            <p:cNvSpPr/>
            <p:nvPr/>
          </p:nvSpPr>
          <p:spPr>
            <a:xfrm>
              <a:off x="2286033" y="3979872"/>
              <a:ext cx="432000" cy="216000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ea typeface="思源黑体 CN Normal" panose="020B0400000000000000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2522042" y="3996539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7" y="466454"/>
            <a:ext cx="239706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lv_img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300325"/>
            <a:ext cx="30704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*img = lv_img_create( parent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011077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：创建图片部件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1886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1719934"/>
            <a:ext cx="1895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：设置图片源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18974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2040277"/>
            <a:ext cx="5038964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LV_IMG_DECLARE(img_bird);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声明图片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lv_img_set_src(img, &amp;img_bird);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设置图片源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8580" y="2753794"/>
            <a:ext cx="2137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：设置图片偏移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8179" y="293134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58581" y="3056017"/>
            <a:ext cx="5038967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lv_img_set_offset_x(img, 100);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x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轴偏移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100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lv_img_set_offset_y(img, 20); 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y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轴偏移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8580" y="3750744"/>
            <a:ext cx="2137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：图片重新着色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88179" y="392829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8581" y="4052967"/>
            <a:ext cx="5529186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lv_obj_set_style_img_recolor(img, lv_color_hex(0xffe1d2), LV_PART_MAIN); 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lv_obj_set_style_img_recolor_opa(img, 150, LV_PART_MAIN);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107" name="组合 106"/>
          <p:cNvGrpSpPr/>
          <p:nvPr/>
        </p:nvGrpSpPr>
        <p:grpSpPr>
          <a:xfrm>
            <a:off x="6305552" y="1838754"/>
            <a:ext cx="1975329" cy="1748647"/>
            <a:chOff x="6708541" y="1739302"/>
            <a:chExt cx="1975329" cy="1748647"/>
          </a:xfrm>
        </p:grpSpPr>
        <p:pic>
          <p:nvPicPr>
            <p:cNvPr id="71" name="图片 70"/>
            <p:cNvPicPr>
              <a:picLocks noChangeAspect="1"/>
            </p:cNvPicPr>
            <p:nvPr/>
          </p:nvPicPr>
          <p:blipFill rotWithShape="1">
            <a:blip r:embed="rId2"/>
            <a:srcRect l="1218"/>
            <a:stretch>
              <a:fillRect/>
            </a:stretch>
          </p:blipFill>
          <p:spPr>
            <a:xfrm>
              <a:off x="7402889" y="2311569"/>
              <a:ext cx="1280981" cy="360000"/>
            </a:xfrm>
            <a:prstGeom prst="rect">
              <a:avLst/>
            </a:prstGeom>
          </p:spPr>
        </p:pic>
        <p:grpSp>
          <p:nvGrpSpPr>
            <p:cNvPr id="85" name="组合 84"/>
            <p:cNvGrpSpPr/>
            <p:nvPr/>
          </p:nvGrpSpPr>
          <p:grpSpPr>
            <a:xfrm>
              <a:off x="7415524" y="2956581"/>
              <a:ext cx="1239768" cy="368986"/>
              <a:chOff x="7142474" y="2951205"/>
              <a:chExt cx="1239768" cy="368986"/>
            </a:xfrm>
          </p:grpSpPr>
          <p:pic>
            <p:nvPicPr>
              <p:cNvPr id="76" name="图片 75"/>
              <p:cNvPicPr>
                <a:picLocks noChangeAspect="1"/>
              </p:cNvPicPr>
              <p:nvPr/>
            </p:nvPicPr>
            <p:blipFill rotWithShape="1">
              <a:blip r:embed="rId2"/>
              <a:srcRect l="53702" r="-1"/>
              <a:stretch>
                <a:fillRect/>
              </a:stretch>
            </p:blipFill>
            <p:spPr>
              <a:xfrm>
                <a:off x="7142474" y="2960191"/>
                <a:ext cx="600382" cy="360000"/>
              </a:xfrm>
              <a:prstGeom prst="rect">
                <a:avLst/>
              </a:prstGeom>
            </p:spPr>
          </p:pic>
          <p:pic>
            <p:nvPicPr>
              <p:cNvPr id="77" name="图片 76"/>
              <p:cNvPicPr>
                <a:picLocks noChangeAspect="1"/>
              </p:cNvPicPr>
              <p:nvPr/>
            </p:nvPicPr>
            <p:blipFill rotWithShape="1">
              <a:blip r:embed="rId2"/>
              <a:srcRect l="1218" r="46355"/>
              <a:stretch>
                <a:fillRect/>
              </a:stretch>
            </p:blipFill>
            <p:spPr>
              <a:xfrm>
                <a:off x="7702374" y="2951205"/>
                <a:ext cx="679868" cy="360000"/>
              </a:xfrm>
              <a:prstGeom prst="rect">
                <a:avLst/>
              </a:prstGeom>
            </p:spPr>
          </p:pic>
        </p:grpSp>
        <p:cxnSp>
          <p:nvCxnSpPr>
            <p:cNvPr id="79" name="直接连接符 78"/>
            <p:cNvCxnSpPr/>
            <p:nvPr/>
          </p:nvCxnSpPr>
          <p:spPr>
            <a:xfrm>
              <a:off x="7415524" y="2047949"/>
              <a:ext cx="0" cy="144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7983739" y="2047949"/>
              <a:ext cx="0" cy="144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/>
            <p:nvPr/>
          </p:nvCxnSpPr>
          <p:spPr>
            <a:xfrm>
              <a:off x="7420286" y="2135007"/>
              <a:ext cx="558000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/>
            <p:cNvSpPr txBox="1"/>
            <p:nvPr/>
          </p:nvSpPr>
          <p:spPr>
            <a:xfrm>
              <a:off x="7364756" y="1739302"/>
              <a:ext cx="74001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x</a:t>
              </a:r>
              <a:r>
                <a: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轴偏移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6708541" y="2304832"/>
              <a:ext cx="492357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原图：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6712784" y="2971098"/>
              <a:ext cx="62139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偏移后：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  <p:bldP spid="2" grpId="0"/>
      <p:bldP spid="3" grpId="0" animBg="1"/>
      <p:bldP spid="7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5543944" y="3075267"/>
            <a:ext cx="1440000" cy="108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7" y="466454"/>
            <a:ext cx="239706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lv_img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1" y="1725775"/>
            <a:ext cx="4686584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lv_img_set_zoom(img, 512);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放大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倍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lv_img_set_angle(img, 900);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顺时针方向旋转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90°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373027"/>
            <a:ext cx="266865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：设置图片缩放、旋转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5505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3002634"/>
            <a:ext cx="190588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6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：设置中心点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31801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3367427"/>
            <a:ext cx="4552112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lv_obj_update_layout(img);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更新图片布局信息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lv_img_set_pivot(img, 0, 0);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设置中心点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5746750" y="1376999"/>
            <a:ext cx="2818283" cy="954623"/>
            <a:chOff x="5166783" y="1347768"/>
            <a:chExt cx="2818283" cy="954623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5379716" y="1973570"/>
              <a:ext cx="2399034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V="1">
              <a:off x="5386066" y="1661538"/>
              <a:ext cx="0" cy="318382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V="1">
              <a:off x="6576690" y="1655188"/>
              <a:ext cx="0" cy="318382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7771285" y="1661538"/>
              <a:ext cx="0" cy="318382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>
              <a:off x="5388447" y="1809750"/>
              <a:ext cx="1181100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>
              <a:off x="6583833" y="1809750"/>
              <a:ext cx="1181100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/>
          </p:nvSpPr>
          <p:spPr>
            <a:xfrm>
              <a:off x="5741420" y="1487754"/>
              <a:ext cx="50698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缩小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904981" y="1487753"/>
              <a:ext cx="50698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放大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166783" y="1353972"/>
              <a:ext cx="440267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128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331875" y="1347768"/>
              <a:ext cx="440267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256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7544799" y="1347768"/>
              <a:ext cx="440267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512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6302925" y="1981051"/>
              <a:ext cx="612223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原尺寸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205395" y="1986022"/>
              <a:ext cx="44026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1/2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7655205" y="1986022"/>
              <a:ext cx="270253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sp>
        <p:nvSpPr>
          <p:cNvPr id="40" name="矩形 39"/>
          <p:cNvSpPr/>
          <p:nvPr/>
        </p:nvSpPr>
        <p:spPr>
          <a:xfrm>
            <a:off x="5903944" y="3345267"/>
            <a:ext cx="720000" cy="54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6236944" y="3588267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7331497" y="3080903"/>
            <a:ext cx="1440000" cy="108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7331497" y="3080903"/>
            <a:ext cx="720000" cy="54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7309259" y="3058665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5958766" y="3557612"/>
            <a:ext cx="64100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中心点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257067" y="2758898"/>
            <a:ext cx="64100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中心点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52" name="直接箭头连接符 51"/>
          <p:cNvCxnSpPr>
            <a:endCxn id="42" idx="3"/>
          </p:cNvCxnSpPr>
          <p:nvPr/>
        </p:nvCxnSpPr>
        <p:spPr>
          <a:xfrm>
            <a:off x="6290944" y="3615267"/>
            <a:ext cx="693000" cy="0"/>
          </a:xfrm>
          <a:prstGeom prst="straightConnector1">
            <a:avLst/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endCxn id="42" idx="0"/>
          </p:cNvCxnSpPr>
          <p:nvPr/>
        </p:nvCxnSpPr>
        <p:spPr>
          <a:xfrm flipV="1">
            <a:off x="6261317" y="3075267"/>
            <a:ext cx="2627" cy="513000"/>
          </a:xfrm>
          <a:prstGeom prst="straightConnector1">
            <a:avLst/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7358251" y="3107903"/>
            <a:ext cx="1413246" cy="1053000"/>
          </a:xfrm>
          <a:prstGeom prst="straightConnector1">
            <a:avLst/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32" grpId="0"/>
      <p:bldP spid="12" grpId="0"/>
      <p:bldP spid="14" grpId="0" animBg="1"/>
      <p:bldP spid="18" grpId="0"/>
      <p:bldP spid="19" grpId="0" animBg="1"/>
      <p:bldP spid="20" grpId="0"/>
      <p:bldP spid="40" grpId="0" animBg="1"/>
      <p:bldP spid="41" grpId="0" animBg="1"/>
      <p:bldP spid="46" grpId="0" animBg="1"/>
      <p:bldP spid="47" grpId="0" animBg="1"/>
      <p:bldP spid="48" grpId="0" animBg="1"/>
      <p:bldP spid="49" grpId="0"/>
      <p:bldP spid="50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657919" y="1833326"/>
            <a:ext cx="1834832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色环部件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535183" y="2512078"/>
            <a:ext cx="2078218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(lv_colorwheel)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3377218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色环部件（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lv_colorwheel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1" y="1157488"/>
            <a:ext cx="421524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UI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设计中，色环部件一般用作颜色选择器。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615059" y="2876504"/>
            <a:ext cx="19653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445059" y="305405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596009" y="2235654"/>
            <a:ext cx="19844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色环部件组成部分：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23718" y="2106158"/>
            <a:ext cx="3630782" cy="1867154"/>
            <a:chOff x="623718" y="2106158"/>
            <a:chExt cx="3630782" cy="1867154"/>
          </a:xfrm>
        </p:grpSpPr>
        <p:sp>
          <p:nvSpPr>
            <p:cNvPr id="3" name="矩形: 圆角 2"/>
            <p:cNvSpPr/>
            <p:nvPr/>
          </p:nvSpPr>
          <p:spPr>
            <a:xfrm>
              <a:off x="623718" y="2106158"/>
              <a:ext cx="3630782" cy="1867154"/>
            </a:xfrm>
            <a:prstGeom prst="roundRect">
              <a:avLst>
                <a:gd name="adj" fmla="val 6229"/>
              </a:avLst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869615" y="3035870"/>
              <a:ext cx="823829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bg1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0xff0000</a:t>
              </a:r>
              <a:endParaRPr lang="zh-CN" altLang="en-US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869617" y="2667753"/>
              <a:ext cx="693714" cy="4181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>
                  <a:solidFill>
                    <a:schemeClr val="bg2">
                      <a:lumMod val="1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红色</a:t>
              </a:r>
              <a:endParaRPr lang="zh-CN" altLang="en-US" sz="1600">
                <a:solidFill>
                  <a:schemeClr val="bg2">
                    <a:lumMod val="1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V="1">
              <a:off x="2486026" y="2611835"/>
              <a:ext cx="0" cy="90000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1120062" y="2428218"/>
              <a:ext cx="1202232" cy="1204488"/>
            </a:xfrm>
            <a:prstGeom prst="rect">
              <a:avLst/>
            </a:prstGeom>
          </p:spPr>
        </p:pic>
        <p:sp>
          <p:nvSpPr>
            <p:cNvPr id="26" name="椭圆 25"/>
            <p:cNvSpPr/>
            <p:nvPr/>
          </p:nvSpPr>
          <p:spPr>
            <a:xfrm>
              <a:off x="1799575" y="3248180"/>
              <a:ext cx="288000" cy="28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: 圆角 26"/>
            <p:cNvSpPr/>
            <p:nvPr/>
          </p:nvSpPr>
          <p:spPr>
            <a:xfrm>
              <a:off x="2648631" y="2794108"/>
              <a:ext cx="214634" cy="486177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5621459" y="3245777"/>
            <a:ext cx="202670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旋钮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(LV_PART_KNOB)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5451060" y="34296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28" grpId="0"/>
      <p:bldP spid="30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6" y="466454"/>
            <a:ext cx="329692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色环部件（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lv_colorwheel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471775"/>
            <a:ext cx="45754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*cw = lv_colorwheel_create( parent, knob_recolor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144427"/>
            <a:ext cx="20862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：创建色环部件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3219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1954884"/>
            <a:ext cx="266865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：设置当前选中颜色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1324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2287927"/>
            <a:ext cx="38388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lv_colorwheel_set_rgb(cw, lv_color_hex(0xff0000));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8580" y="2760144"/>
            <a:ext cx="24735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：获取当前选中颜色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8179" y="293769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58581" y="3881517"/>
            <a:ext cx="8074269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lv_colorwheel_set_mode(cw, LV_COLORWHEEL_MODE_HUE/SATURATION/VALUE);	 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色相、饱和度、明度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lv_colorwheel_set_mode_fixed(cw, true);							 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固定色环模式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45880" y="3545229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：设置色环模式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75479" y="372277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45881" y="3085452"/>
            <a:ext cx="2194169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lv_colorwheel_get_rgb(cw);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5943601" y="1583497"/>
            <a:ext cx="2518069" cy="1868317"/>
            <a:chOff x="5943601" y="1583497"/>
            <a:chExt cx="2518069" cy="1868317"/>
          </a:xfrm>
        </p:grpSpPr>
        <p:sp>
          <p:nvSpPr>
            <p:cNvPr id="23" name="矩形 22"/>
            <p:cNvSpPr/>
            <p:nvPr/>
          </p:nvSpPr>
          <p:spPr>
            <a:xfrm>
              <a:off x="6893730" y="1590148"/>
              <a:ext cx="216000" cy="36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7097407" y="1590148"/>
              <a:ext cx="216000" cy="360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7301084" y="1590148"/>
              <a:ext cx="216000" cy="360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7504761" y="1590148"/>
              <a:ext cx="216000" cy="360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7708438" y="1590148"/>
              <a:ext cx="216000" cy="360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7912115" y="1590148"/>
              <a:ext cx="216000" cy="360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8115791" y="1590148"/>
              <a:ext cx="216000" cy="36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6893729" y="2902618"/>
              <a:ext cx="1448383" cy="360000"/>
            </a:xfrm>
            <a:prstGeom prst="rect">
              <a:avLst/>
            </a:prstGeom>
            <a:gradFill flip="none" rotWithShape="1">
              <a:gsLst>
                <a:gs pos="0">
                  <a:srgbClr val="000000"/>
                </a:gs>
                <a:gs pos="67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6053387" y="1583497"/>
              <a:ext cx="772863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色相</a:t>
              </a:r>
              <a:r>
                <a:rPr lang="en-US" altLang="zh-CN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(H)</a:t>
              </a: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：</a:t>
              </a:r>
              <a:endPara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5943601" y="2235868"/>
              <a:ext cx="927099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饱和度</a:t>
              </a:r>
              <a:r>
                <a:rPr lang="en-US" altLang="zh-CN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(S)</a:t>
              </a: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：</a:t>
              </a:r>
              <a:endPara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085137" y="2889168"/>
              <a:ext cx="772863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明度</a:t>
              </a:r>
              <a:r>
                <a:rPr lang="en-US" altLang="zh-CN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(V)</a:t>
              </a: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：</a:t>
              </a:r>
              <a:endPara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8143687" y="2497760"/>
              <a:ext cx="317983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低</a:t>
              </a:r>
              <a:endParaRPr lang="zh-CN" altLang="en-US" sz="10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6896525" y="2245691"/>
              <a:ext cx="1448383" cy="3600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88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6803837" y="2497760"/>
              <a:ext cx="317983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高</a:t>
              </a:r>
              <a:endParaRPr lang="zh-CN" altLang="en-US" sz="10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8143687" y="3155836"/>
              <a:ext cx="317983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低</a:t>
              </a:r>
              <a:endParaRPr lang="zh-CN" altLang="en-US" sz="10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6803837" y="3155836"/>
              <a:ext cx="317983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高</a:t>
              </a:r>
              <a:endParaRPr lang="zh-CN" altLang="en-US" sz="10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  <p:bldP spid="17" grpId="0"/>
      <p:bldP spid="21" grpId="0" animBg="1"/>
      <p:bldP spid="22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315018" y="1833326"/>
            <a:ext cx="2584131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按钮矩阵部件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636783" y="2512078"/>
            <a:ext cx="1951217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(lv_btnmatrix)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36969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按钮矩阵部件（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lv_btnmatrix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1" y="1100338"/>
            <a:ext cx="541539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按钮矩阵部件可以在不同的行和列中显示多个轻量级按钮。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653159" y="2876504"/>
            <a:ext cx="19653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483159" y="305405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361059" y="2280104"/>
            <a:ext cx="234149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按钮矩阵部件组成部分：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659559" y="3245777"/>
            <a:ext cx="202670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(LV_PART_ITEMS)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5489160" y="34296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649118" y="1915447"/>
            <a:ext cx="3643482" cy="2269203"/>
            <a:chOff x="623718" y="1909097"/>
            <a:chExt cx="3643482" cy="2269203"/>
          </a:xfrm>
        </p:grpSpPr>
        <p:sp>
          <p:nvSpPr>
            <p:cNvPr id="3" name="矩形: 圆角 2"/>
            <p:cNvSpPr/>
            <p:nvPr/>
          </p:nvSpPr>
          <p:spPr>
            <a:xfrm>
              <a:off x="623718" y="1909097"/>
              <a:ext cx="3643482" cy="2269203"/>
            </a:xfrm>
            <a:prstGeom prst="roundRect">
              <a:avLst>
                <a:gd name="adj" fmla="val 6229"/>
              </a:avLst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43851" y="3048799"/>
              <a:ext cx="77280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输入密码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869952" y="3450573"/>
              <a:ext cx="1074688" cy="20809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2" name="矩形: 圆角 1"/>
            <p:cNvSpPr/>
            <p:nvPr/>
          </p:nvSpPr>
          <p:spPr>
            <a:xfrm>
              <a:off x="2409273" y="2141944"/>
              <a:ext cx="1616625" cy="1823832"/>
            </a:xfrm>
            <a:prstGeom prst="roundRect">
              <a:avLst>
                <a:gd name="adj" fmla="val 6229"/>
              </a:avLst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1" name="图片 6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4029" y="2417927"/>
              <a:ext cx="792630" cy="632713"/>
            </a:xfrm>
            <a:prstGeom prst="rect">
              <a:avLst/>
            </a:prstGeom>
          </p:spPr>
        </p:pic>
        <p:cxnSp>
          <p:nvCxnSpPr>
            <p:cNvPr id="65" name="直接连接符 64"/>
            <p:cNvCxnSpPr/>
            <p:nvPr/>
          </p:nvCxnSpPr>
          <p:spPr>
            <a:xfrm flipV="1">
              <a:off x="2155826" y="2072113"/>
              <a:ext cx="0" cy="198000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文本框 77"/>
            <p:cNvSpPr txBox="1"/>
            <p:nvPr/>
          </p:nvSpPr>
          <p:spPr>
            <a:xfrm>
              <a:off x="1071284" y="3364508"/>
              <a:ext cx="717941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>
                  <a:solidFill>
                    <a:schemeClr val="bg1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******</a:t>
              </a:r>
              <a:endParaRPr lang="zh-CN" altLang="en-US" sz="14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H="1">
              <a:off x="2527262" y="2517610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2547331" y="2170810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065245" y="2170810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583158" y="2170810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3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547331" y="2611391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4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065245" y="2611391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5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583158" y="2611391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6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547331" y="3042261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7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065245" y="3042261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8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583158" y="3042261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9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489690" y="3499814"/>
              <a:ext cx="454721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删除</a:t>
              </a:r>
              <a:endParaRPr lang="zh-CN" altLang="en-US" sz="10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3065245" y="3454277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512817" y="3505709"/>
              <a:ext cx="454721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返回</a:t>
              </a:r>
              <a:endParaRPr lang="zh-CN" altLang="en-US" sz="10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51" name="直接连接符 50"/>
            <p:cNvCxnSpPr/>
            <p:nvPr/>
          </p:nvCxnSpPr>
          <p:spPr>
            <a:xfrm flipH="1">
              <a:off x="3031020" y="2517610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534777" y="2517610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2525807" y="2950351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029565" y="2950351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3322" y="2950351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2525807" y="3393612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029565" y="3393612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533322" y="3393612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029565" y="3802142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2532157" y="3802142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3539672" y="3802142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28" grpId="0"/>
      <p:bldP spid="30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6" y="466454"/>
            <a:ext cx="369697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按钮矩阵部件（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lv_btnmatrix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408275"/>
            <a:ext cx="35276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*btnm = lv_btnmatrix_create(parent);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080927"/>
            <a:ext cx="24862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：创建按钮矩阵部件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2584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1840584"/>
            <a:ext cx="26132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：设置按钮数量、文本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0181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2173627"/>
            <a:ext cx="778852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static const char *map[] = { "btn1", "\n", "btn2", "btn3", "" };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定义按钮数组，最后一个元素必须为空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lv_btnmatrix_set_map(btnm, map);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设置按钮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58581" y="3214767"/>
            <a:ext cx="7909169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lv_btnmatrix_set_btn_width(btnm, id, width);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索引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(id)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从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开始，宽度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1~7 (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默认为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1 )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45880" y="2878479"/>
            <a:ext cx="24862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：设置按钮相对宽度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75479" y="305602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58581" y="3984457"/>
            <a:ext cx="5826369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lv_btnmatrix_get_selected_btn(btnm);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获取索引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lv_btnmatrix_get_btn_text(btnm, id);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获取文本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45880" y="3648169"/>
            <a:ext cx="266865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：获取按钮索引、文本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75479" y="382571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16" grpId="0"/>
      <p:bldP spid="17" grpId="0"/>
      <p:bldP spid="21" grpId="0" animBg="1"/>
      <p:bldP spid="2" grpId="0"/>
      <p:bldP spid="3" grpId="0"/>
      <p:bldP spid="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6" y="466454"/>
            <a:ext cx="369697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按钮矩阵部件（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lv_btnmatrix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440025"/>
            <a:ext cx="6880470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lv_btnmatrix_set_btn_ctrl(btnm, id, LV_BTNMATRIX_CTRL_...);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设置单个按钮属性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lv_btnmatrix_clear_btn_ctrl(btnm, id, LV_BTNMATRIX_CTRL_...);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清除单个按钮属性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lv_btnmatrix_set_btn_ctrl_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all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(btnm, LV_BTNMATRIX_CTRL_...);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	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设置所有按钮属性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112677"/>
            <a:ext cx="266865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：设置、清除按钮属性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2902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3847184"/>
            <a:ext cx="24545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6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：设置单次选中属性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40247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4180227"/>
            <a:ext cx="81758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lv_btnmatrix_set_one_checked(btnm, true);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注意：需要先设置允许状态切换属性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08547" y="2423219"/>
            <a:ext cx="7471853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enum 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{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LV_BTNMATRIX_CTRL_HIDDEN, 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隐藏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LV_BTNMATRIX_CTRL_DISABLED,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失能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LV_BTNMATRIX_CTRL_CHECKABLE, 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允许状态切换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LV_BTNMATRIX_CTRL_RECOLOR, 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允许文本重新着色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};</a:t>
            </a:r>
            <a:endParaRPr lang="en-US" altLang="zh-CN" sz="12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321050" y="1833326"/>
            <a:ext cx="2606031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文本区域部件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757433" y="2512078"/>
            <a:ext cx="1742933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(lv_textarea)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32715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文本区域部件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(lv_textarea)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1" y="1100338"/>
            <a:ext cx="564399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文本区域部件即文本输入框，用户可以在其中输入文本内容。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507109" y="2317704"/>
            <a:ext cx="19653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337109" y="249525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215009" y="1797504"/>
            <a:ext cx="234149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文本区域部件组成部分：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513509" y="2683394"/>
            <a:ext cx="268996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滚动条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(LV_PART_SCROLLBAR)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5343110" y="286253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649118" y="1933351"/>
            <a:ext cx="3840332" cy="2224526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/>
        </p:nvSpPr>
        <p:spPr>
          <a:xfrm>
            <a:off x="2267747" y="2927304"/>
            <a:ext cx="1887533" cy="295978"/>
          </a:xfrm>
          <a:prstGeom prst="roundRect">
            <a:avLst>
              <a:gd name="adj" fmla="val 18877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</a:t>
            </a:r>
            <a:r>
              <a:rPr lang="zh-CN" altLang="en-US" sz="10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密码</a:t>
            </a:r>
            <a:endParaRPr lang="zh-CN" altLang="en-US" sz="120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03" y="2622905"/>
            <a:ext cx="674312" cy="538266"/>
          </a:xfrm>
          <a:prstGeom prst="rect">
            <a:avLst/>
          </a:prstGeom>
        </p:spPr>
      </p:pic>
      <p:sp>
        <p:nvSpPr>
          <p:cNvPr id="26" name="矩形: 圆角 25"/>
          <p:cNvSpPr/>
          <p:nvPr/>
        </p:nvSpPr>
        <p:spPr>
          <a:xfrm>
            <a:off x="2267747" y="2469884"/>
            <a:ext cx="1887533" cy="295978"/>
          </a:xfrm>
          <a:prstGeom prst="roundRect">
            <a:avLst>
              <a:gd name="adj" fmla="val 18877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 abcd@163.com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853" y="3021705"/>
            <a:ext cx="163977" cy="12016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59574" y="2559342"/>
            <a:ext cx="126000" cy="126000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894262" y="3127945"/>
            <a:ext cx="83369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用户登录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2412337" y="3451395"/>
            <a:ext cx="1571839" cy="2782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ea typeface="思源黑体 CN Normal" panose="020B040000000000000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952966" y="3393381"/>
            <a:ext cx="500772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登录</a:t>
            </a:r>
            <a:endParaRPr lang="zh-CN" altLang="en-US" sz="120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69" name="直接连接符 68"/>
          <p:cNvCxnSpPr/>
          <p:nvPr/>
        </p:nvCxnSpPr>
        <p:spPr>
          <a:xfrm flipV="1">
            <a:off x="1937362" y="2153204"/>
            <a:ext cx="0" cy="180000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图片 8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6139" y="3001378"/>
            <a:ext cx="129285" cy="144000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6139" y="2543342"/>
            <a:ext cx="130623" cy="144000"/>
          </a:xfrm>
          <a:prstGeom prst="rect">
            <a:avLst/>
          </a:prstGeom>
        </p:spPr>
      </p:pic>
      <p:sp>
        <p:nvSpPr>
          <p:cNvPr id="86" name="文本框 85"/>
          <p:cNvSpPr txBox="1"/>
          <p:nvPr/>
        </p:nvSpPr>
        <p:spPr>
          <a:xfrm>
            <a:off x="5520631" y="3049084"/>
            <a:ext cx="268996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所选文本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(LV_PART_SELECTED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7" name="椭圆 86"/>
          <p:cNvSpPr/>
          <p:nvPr/>
        </p:nvSpPr>
        <p:spPr>
          <a:xfrm>
            <a:off x="5350631" y="322980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5527031" y="3414774"/>
            <a:ext cx="2171933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光标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(LV_PART_CURSOR)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9" name="椭圆 88"/>
          <p:cNvSpPr/>
          <p:nvPr/>
        </p:nvSpPr>
        <p:spPr>
          <a:xfrm>
            <a:off x="5356632" y="359708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5527031" y="3780466"/>
            <a:ext cx="308356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占位符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(TEXTAREA_PLACEHOLDER)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1" name="椭圆 90"/>
          <p:cNvSpPr/>
          <p:nvPr/>
        </p:nvSpPr>
        <p:spPr>
          <a:xfrm>
            <a:off x="5356632" y="3964365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/>
          <p:cNvCxnSpPr/>
          <p:nvPr/>
        </p:nvCxnSpPr>
        <p:spPr>
          <a:xfrm>
            <a:off x="3584982" y="2545725"/>
            <a:ext cx="0" cy="14400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28" grpId="0"/>
      <p:bldP spid="30" grpId="0" animBg="1"/>
      <p:bldP spid="3" grpId="0" animBg="1"/>
      <p:bldP spid="14" grpId="0" animBg="1"/>
      <p:bldP spid="26" grpId="0" animBg="1"/>
      <p:bldP spid="40" grpId="0"/>
      <p:bldP spid="42" grpId="0" animBg="1"/>
      <p:bldP spid="43" grpId="0"/>
      <p:bldP spid="86" grpId="0"/>
      <p:bldP spid="87" grpId="0" animBg="1"/>
      <p:bldP spid="88" grpId="0"/>
      <p:bldP spid="89" grpId="0" animBg="1"/>
      <p:bldP spid="90" grpId="0"/>
      <p:bldP spid="9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6" y="466454"/>
            <a:ext cx="3345956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文本区域部件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(lv_textarea)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509875"/>
            <a:ext cx="31657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*ta = lv_textarea_create(parent);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182527"/>
            <a:ext cx="24862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：创建文本区域部件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3600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1954884"/>
            <a:ext cx="17433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：添加文本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1324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2287927"/>
            <a:ext cx="656932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lv_textarea_add_char(ta, 'A');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添加一个字符到当前光标处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lv_textarea_add_text(ta, "BCDEF"); 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添加字符串到当前光标处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5880" y="3754339"/>
            <a:ext cx="21560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：设置光标位置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5479" y="393188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33180" y="4087382"/>
            <a:ext cx="828890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lv_textarea_set_cursor_pos(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ta</a:t>
            </a:r>
            <a:r>
              <a:rPr lang="pt-B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0);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：最左侧，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LV_TEXTAREA_CURSOR_LAST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：最右侧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33180" y="2961512"/>
            <a:ext cx="656932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*keyboard = lv_keyboard_create(lv_scr_act());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创建键盘部件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lv_keyboard_set_textarea(keyboard, ta);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关联键盘和文本区域部件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22" grpId="0"/>
      <p:bldP spid="23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6" y="466454"/>
            <a:ext cx="3345956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文本区域部件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(lv_textarea)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58581" y="1512967"/>
            <a:ext cx="6836019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lv_textarea_del_char(ta);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删除光标左侧的一个字符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s-E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lv_textarea_del_char_forward(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ta</a:t>
            </a:r>
            <a:r>
              <a:rPr lang="es-E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删除光标右侧的一个字符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45880" y="1176679"/>
            <a:ext cx="17941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：删除文本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75479" y="135422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58581" y="2554448"/>
            <a:ext cx="7121769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lv_textarea_set_one_line(ta, true);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单行模式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lv_textarea_set_password_mode(ta, true);</a:t>
            </a:r>
            <a:r>
              <a:rPr lang="es-E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密码模式（隐藏输入的内容）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lv_textarea_set_password_show_time(ta, 100);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密码显示时间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45880" y="2218160"/>
            <a:ext cx="17941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：设置模式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75479" y="239570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58581" y="3873193"/>
            <a:ext cx="6308969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lv_textarea_set_accepted_chars(ta,"0123456789");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		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限制接收的字符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lv_textarea_set_max_length(ta,6);			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限制字符长度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45880" y="3536905"/>
            <a:ext cx="20862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6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：限制字符输入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575479" y="3714454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1" grpId="0" animBg="1"/>
      <p:bldP spid="2" grpId="0"/>
      <p:bldP spid="3" grpId="0"/>
      <p:bldP spid="7" grpId="0" animBg="1"/>
      <p:bldP spid="23" grpId="0"/>
      <p:bldP spid="24" grpId="0"/>
      <p:bldP spid="25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6" y="466454"/>
            <a:ext cx="3345956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文本区域部件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(lv_textarea)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865475"/>
            <a:ext cx="60486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lv_textarea_set_placeholder_text(ta, "password");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		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提示输入密码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538127"/>
            <a:ext cx="19338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7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：设置占位符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7156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2456534"/>
            <a:ext cx="1768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8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：获取文本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6340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2789577"/>
            <a:ext cx="62581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const char *txt = lv_textarea_get_text(ta);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获取文本框文本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45880" y="3363706"/>
            <a:ext cx="21116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9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：比对文本内容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75479" y="3541255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33180" y="3696749"/>
            <a:ext cx="64359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strcmp(const char *s1,const char *s2);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当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s1=s2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时，返回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21" grpId="0"/>
      <p:bldP spid="24" grpId="0" animBg="1"/>
      <p:bldP spid="2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791269" y="1833326"/>
            <a:ext cx="1834832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键盘部件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751083" y="2512078"/>
            <a:ext cx="1742933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(lv_keyboard)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8" y="466454"/>
            <a:ext cx="2986387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键盘部件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(lv_keyboard)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2" y="1043188"/>
            <a:ext cx="619644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键盘部件可用于输入文本内容，其本质上就是一个特殊的按钮矩阵。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104009" y="2876504"/>
            <a:ext cx="19653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934009" y="305405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811910" y="2280104"/>
            <a:ext cx="200763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键盘部件组成部分：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110409" y="3245777"/>
            <a:ext cx="202670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(LV_PART_ITEMS)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5940010" y="34296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/>
          <p:cNvSpPr/>
          <p:nvPr/>
        </p:nvSpPr>
        <p:spPr>
          <a:xfrm>
            <a:off x="642768" y="1701800"/>
            <a:ext cx="4488032" cy="2740296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364" y="2083585"/>
            <a:ext cx="585874" cy="467671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553" y="2605569"/>
            <a:ext cx="163977" cy="120160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46924" y="2143206"/>
            <a:ext cx="126000" cy="126000"/>
          </a:xfrm>
          <a:prstGeom prst="rect">
            <a:avLst/>
          </a:prstGeom>
        </p:spPr>
      </p:pic>
      <p:sp>
        <p:nvSpPr>
          <p:cNvPr id="67" name="文本框 66"/>
          <p:cNvSpPr txBox="1"/>
          <p:nvPr/>
        </p:nvSpPr>
        <p:spPr>
          <a:xfrm>
            <a:off x="1213084" y="2484210"/>
            <a:ext cx="83878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用户登录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70" name="直接连接符 69"/>
          <p:cNvCxnSpPr/>
          <p:nvPr/>
        </p:nvCxnSpPr>
        <p:spPr>
          <a:xfrm flipV="1">
            <a:off x="2299312" y="1991068"/>
            <a:ext cx="0" cy="90000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图片 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7290" y="2578892"/>
            <a:ext cx="145445" cy="162000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3639" y="2114506"/>
            <a:ext cx="146951" cy="162000"/>
          </a:xfrm>
          <a:prstGeom prst="rect">
            <a:avLst/>
          </a:prstGeom>
        </p:spPr>
      </p:pic>
      <p:cxnSp>
        <p:nvCxnSpPr>
          <p:cNvPr id="75" name="直接连接符 74"/>
          <p:cNvCxnSpPr/>
          <p:nvPr/>
        </p:nvCxnSpPr>
        <p:spPr>
          <a:xfrm>
            <a:off x="3845332" y="2123239"/>
            <a:ext cx="0" cy="14400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808836" y="3060189"/>
            <a:ext cx="3746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1#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6" name="矩形: 圆角 75"/>
          <p:cNvSpPr/>
          <p:nvPr/>
        </p:nvSpPr>
        <p:spPr>
          <a:xfrm>
            <a:off x="1259773" y="3060189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q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7" name="矩形: 圆角 86"/>
          <p:cNvSpPr/>
          <p:nvPr/>
        </p:nvSpPr>
        <p:spPr>
          <a:xfrm>
            <a:off x="1585183" y="3060189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w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8" name="矩形: 圆角 87"/>
          <p:cNvSpPr/>
          <p:nvPr/>
        </p:nvSpPr>
        <p:spPr>
          <a:xfrm>
            <a:off x="1910593" y="3060189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e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9" name="矩形: 圆角 88"/>
          <p:cNvSpPr/>
          <p:nvPr/>
        </p:nvSpPr>
        <p:spPr>
          <a:xfrm>
            <a:off x="2236003" y="3060189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r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0" name="矩形: 圆角 89"/>
          <p:cNvSpPr/>
          <p:nvPr/>
        </p:nvSpPr>
        <p:spPr>
          <a:xfrm>
            <a:off x="2561413" y="3060189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2886823" y="3060189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y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2" name="矩形: 圆角 91"/>
          <p:cNvSpPr/>
          <p:nvPr/>
        </p:nvSpPr>
        <p:spPr>
          <a:xfrm>
            <a:off x="3212233" y="3060189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u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3537643" y="3060189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i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4" name="矩形: 圆角 93"/>
          <p:cNvSpPr/>
          <p:nvPr/>
        </p:nvSpPr>
        <p:spPr>
          <a:xfrm>
            <a:off x="3863053" y="306573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o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5" name="矩形: 圆角 94"/>
          <p:cNvSpPr/>
          <p:nvPr/>
        </p:nvSpPr>
        <p:spPr>
          <a:xfrm>
            <a:off x="4188461" y="306573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p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6" name="矩形: 圆角 95"/>
          <p:cNvSpPr/>
          <p:nvPr/>
        </p:nvSpPr>
        <p:spPr>
          <a:xfrm>
            <a:off x="4521421" y="3064382"/>
            <a:ext cx="461491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7" name="矩形: 圆角 96"/>
          <p:cNvSpPr/>
          <p:nvPr/>
        </p:nvSpPr>
        <p:spPr>
          <a:xfrm>
            <a:off x="808836" y="3387927"/>
            <a:ext cx="5507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ABC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8" name="矩形: 圆角 97"/>
          <p:cNvSpPr/>
          <p:nvPr/>
        </p:nvSpPr>
        <p:spPr>
          <a:xfrm>
            <a:off x="1432946" y="338792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a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9" name="矩形: 圆角 98"/>
          <p:cNvSpPr/>
          <p:nvPr/>
        </p:nvSpPr>
        <p:spPr>
          <a:xfrm>
            <a:off x="1758356" y="338792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s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0" name="矩形: 圆角 99"/>
          <p:cNvSpPr/>
          <p:nvPr/>
        </p:nvSpPr>
        <p:spPr>
          <a:xfrm>
            <a:off x="2083766" y="338792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d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1" name="矩形: 圆角 100"/>
          <p:cNvSpPr/>
          <p:nvPr/>
        </p:nvSpPr>
        <p:spPr>
          <a:xfrm>
            <a:off x="2409176" y="338792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2734586" y="338792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g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3059996" y="338792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h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3385406" y="338792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j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3710816" y="338792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k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4036226" y="3393475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l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8" name="矩形: 圆角 107"/>
          <p:cNvSpPr/>
          <p:nvPr/>
        </p:nvSpPr>
        <p:spPr>
          <a:xfrm>
            <a:off x="4372115" y="3392120"/>
            <a:ext cx="610797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9" name="矩形: 圆角 108"/>
          <p:cNvSpPr/>
          <p:nvPr/>
        </p:nvSpPr>
        <p:spPr>
          <a:xfrm>
            <a:off x="808836" y="3712662"/>
            <a:ext cx="306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1" name="矩形: 圆角 110"/>
          <p:cNvSpPr/>
          <p:nvPr/>
        </p:nvSpPr>
        <p:spPr>
          <a:xfrm>
            <a:off x="1596363" y="3712662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z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2" name="矩形: 圆角 111"/>
          <p:cNvSpPr/>
          <p:nvPr/>
        </p:nvSpPr>
        <p:spPr>
          <a:xfrm>
            <a:off x="1928546" y="3712662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x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2253956" y="3712662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c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4" name="矩形: 圆角 113"/>
          <p:cNvSpPr/>
          <p:nvPr/>
        </p:nvSpPr>
        <p:spPr>
          <a:xfrm>
            <a:off x="2579366" y="3712662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v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5" name="矩形: 圆角 114"/>
          <p:cNvSpPr/>
          <p:nvPr/>
        </p:nvSpPr>
        <p:spPr>
          <a:xfrm>
            <a:off x="2904776" y="3712662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b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6" name="矩形: 圆角 115"/>
          <p:cNvSpPr/>
          <p:nvPr/>
        </p:nvSpPr>
        <p:spPr>
          <a:xfrm>
            <a:off x="3230186" y="3712662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n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3555596" y="3712662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m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9" name="矩形: 圆角 118"/>
          <p:cNvSpPr/>
          <p:nvPr/>
        </p:nvSpPr>
        <p:spPr>
          <a:xfrm>
            <a:off x="4676912" y="3712662"/>
            <a:ext cx="306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: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0" name="矩形: 圆角 119"/>
          <p:cNvSpPr/>
          <p:nvPr/>
        </p:nvSpPr>
        <p:spPr>
          <a:xfrm>
            <a:off x="1198773" y="3712662"/>
            <a:ext cx="306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1" name="矩形: 圆角 120"/>
          <p:cNvSpPr/>
          <p:nvPr/>
        </p:nvSpPr>
        <p:spPr>
          <a:xfrm>
            <a:off x="3893604" y="3710117"/>
            <a:ext cx="306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2" name="矩形: 圆角 121"/>
          <p:cNvSpPr/>
          <p:nvPr/>
        </p:nvSpPr>
        <p:spPr>
          <a:xfrm>
            <a:off x="4280596" y="3710117"/>
            <a:ext cx="306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,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3" name="矩形: 圆角 122"/>
          <p:cNvSpPr/>
          <p:nvPr/>
        </p:nvSpPr>
        <p:spPr>
          <a:xfrm>
            <a:off x="808836" y="4043176"/>
            <a:ext cx="540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#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8" name="矩形: 圆角 127"/>
          <p:cNvSpPr/>
          <p:nvPr/>
        </p:nvSpPr>
        <p:spPr>
          <a:xfrm>
            <a:off x="1996296" y="4043176"/>
            <a:ext cx="1800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3" name="矩形: 圆角 132"/>
          <p:cNvSpPr/>
          <p:nvPr/>
        </p:nvSpPr>
        <p:spPr>
          <a:xfrm>
            <a:off x="4442912" y="4047369"/>
            <a:ext cx="540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√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4" name="矩形: 圆角 133"/>
          <p:cNvSpPr/>
          <p:nvPr/>
        </p:nvSpPr>
        <p:spPr>
          <a:xfrm>
            <a:off x="1402144" y="4047251"/>
            <a:ext cx="540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5" name="矩形: 圆角 134"/>
          <p:cNvSpPr/>
          <p:nvPr/>
        </p:nvSpPr>
        <p:spPr>
          <a:xfrm>
            <a:off x="3849604" y="4043176"/>
            <a:ext cx="540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&gt;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3" name="连接符: 肘形 32"/>
          <p:cNvCxnSpPr/>
          <p:nvPr/>
        </p:nvCxnSpPr>
        <p:spPr>
          <a:xfrm rot="10800000" flipV="1">
            <a:off x="4590397" y="3478466"/>
            <a:ext cx="144000" cy="65079"/>
          </a:xfrm>
          <a:prstGeom prst="bentConnector3">
            <a:avLst>
              <a:gd name="adj1" fmla="val 995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箭头: 五边形 136"/>
          <p:cNvSpPr/>
          <p:nvPr/>
        </p:nvSpPr>
        <p:spPr>
          <a:xfrm flipH="1">
            <a:off x="4663983" y="3153888"/>
            <a:ext cx="172334" cy="96651"/>
          </a:xfrm>
          <a:prstGeom prst="homePlate">
            <a:avLst>
              <a:gd name="adj" fmla="val 49999"/>
            </a:avLst>
          </a:prstGeom>
          <a:solidFill>
            <a:srgbClr val="D9D9D9"/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cxnSp>
        <p:nvCxnSpPr>
          <p:cNvPr id="139" name="直接连接符 138"/>
          <p:cNvCxnSpPr/>
          <p:nvPr/>
        </p:nvCxnSpPr>
        <p:spPr>
          <a:xfrm flipV="1">
            <a:off x="4747039" y="3180717"/>
            <a:ext cx="43200" cy="4320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 flipH="1" flipV="1">
            <a:off x="4747038" y="3180774"/>
            <a:ext cx="43200" cy="4320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/>
        </p:nvCxnSpPr>
        <p:spPr>
          <a:xfrm>
            <a:off x="2884713" y="2311555"/>
            <a:ext cx="162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本框 147"/>
          <p:cNvSpPr txBox="1"/>
          <p:nvPr/>
        </p:nvSpPr>
        <p:spPr>
          <a:xfrm>
            <a:off x="2752041" y="2009450"/>
            <a:ext cx="1284181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abc@163.com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149" name="直接连接符 148"/>
          <p:cNvCxnSpPr/>
          <p:nvPr/>
        </p:nvCxnSpPr>
        <p:spPr>
          <a:xfrm>
            <a:off x="2884713" y="2754295"/>
            <a:ext cx="162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文本框 149"/>
          <p:cNvSpPr txBox="1"/>
          <p:nvPr/>
        </p:nvSpPr>
        <p:spPr>
          <a:xfrm>
            <a:off x="2809191" y="2477590"/>
            <a:ext cx="510991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密码</a:t>
            </a:r>
            <a:endParaRPr lang="zh-CN" altLang="en-US" sz="105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28" grpId="0"/>
      <p:bldP spid="30" grpId="0" animBg="1"/>
      <p:bldP spid="47" grpId="0" animBg="1"/>
      <p:bldP spid="67" grpId="0"/>
      <p:bldP spid="7" grpId="0" animBg="1"/>
      <p:bldP spid="7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8" grpId="0" animBg="1"/>
      <p:bldP spid="109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8" grpId="0" animBg="1"/>
      <p:bldP spid="133" grpId="0" animBg="1"/>
      <p:bldP spid="134" grpId="0" animBg="1"/>
      <p:bldP spid="135" grpId="0" animBg="1"/>
      <p:bldP spid="137" grpId="0" animBg="1"/>
      <p:bldP spid="148" grpId="0"/>
      <p:bldP spid="150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6" y="466454"/>
            <a:ext cx="292227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键盘部件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(lv_keyboard)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509875"/>
            <a:ext cx="32990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*kb = lv_keyboard_create(parent);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182527"/>
            <a:ext cx="21560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：创建键盘部件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3600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1929484"/>
            <a:ext cx="19147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：关联文本框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1070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2262527"/>
            <a:ext cx="728052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*ta = lv_textarea_create(lv_scr_act());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创建文本区域部件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lv_keyboard_set_textarea(kb, ta);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关联键盘和文本区域部件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5880" y="2998689"/>
            <a:ext cx="21560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：设置按键弹窗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5479" y="317623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33180" y="3331732"/>
            <a:ext cx="68868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lv_keyboard_set_popovers(kb, true);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允许按键弹窗提示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45880" y="3809258"/>
            <a:ext cx="20989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：设置键盘模式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75479" y="398680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33180" y="4142301"/>
            <a:ext cx="66836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lv_keyboard_set_mode(kb, LV_KEYBOARD_MODE_NUMBER);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数字键盘模式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22" grpId="0"/>
      <p:bldP spid="21" grpId="0"/>
      <p:bldP spid="24" grpId="0" animBg="1"/>
      <p:bldP spid="25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363732" y="1833326"/>
            <a:ext cx="2662418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图片按钮部件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852683" y="2512078"/>
            <a:ext cx="1628633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(lv_imgbtn)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9" y="466454"/>
            <a:ext cx="3161608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图片按钮部件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(lv_imgbtn)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1" y="1049538"/>
            <a:ext cx="641234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图片按钮部件类似于按钮部件，不同的是，用户可以在其中设置图片。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970659" y="3047954"/>
            <a:ext cx="19653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800659" y="322550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678560" y="2451554"/>
            <a:ext cx="2325204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图片按钮部件组成部分：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642768" y="1873250"/>
            <a:ext cx="3988376" cy="2398512"/>
          </a:xfrm>
          <a:prstGeom prst="roundRect">
            <a:avLst>
              <a:gd name="adj" fmla="val 622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: 圆角 106"/>
          <p:cNvSpPr/>
          <p:nvPr/>
        </p:nvSpPr>
        <p:spPr>
          <a:xfrm>
            <a:off x="1020262" y="2175588"/>
            <a:ext cx="720000" cy="8280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: 圆角 109"/>
          <p:cNvSpPr/>
          <p:nvPr/>
        </p:nvSpPr>
        <p:spPr>
          <a:xfrm>
            <a:off x="1862560" y="2175588"/>
            <a:ext cx="720000" cy="8280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: 圆角 117"/>
          <p:cNvSpPr/>
          <p:nvPr/>
        </p:nvSpPr>
        <p:spPr>
          <a:xfrm>
            <a:off x="2703164" y="2175588"/>
            <a:ext cx="720000" cy="8280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: 圆角 123"/>
          <p:cNvSpPr/>
          <p:nvPr/>
        </p:nvSpPr>
        <p:spPr>
          <a:xfrm>
            <a:off x="3536993" y="2177991"/>
            <a:ext cx="720000" cy="8280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: 圆角 124"/>
          <p:cNvSpPr/>
          <p:nvPr/>
        </p:nvSpPr>
        <p:spPr>
          <a:xfrm>
            <a:off x="1027035" y="3165956"/>
            <a:ext cx="720000" cy="8280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: 圆角 125"/>
          <p:cNvSpPr/>
          <p:nvPr/>
        </p:nvSpPr>
        <p:spPr>
          <a:xfrm>
            <a:off x="1862560" y="3165956"/>
            <a:ext cx="720000" cy="8280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: 圆角 126"/>
          <p:cNvSpPr/>
          <p:nvPr/>
        </p:nvSpPr>
        <p:spPr>
          <a:xfrm>
            <a:off x="2703164" y="3165956"/>
            <a:ext cx="720000" cy="8280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: 圆角 128"/>
          <p:cNvSpPr/>
          <p:nvPr/>
        </p:nvSpPr>
        <p:spPr>
          <a:xfrm>
            <a:off x="3536993" y="3168359"/>
            <a:ext cx="720000" cy="8280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010" y="2341324"/>
            <a:ext cx="334002" cy="27570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469" y="2360364"/>
            <a:ext cx="315101" cy="25341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274" y="2338713"/>
            <a:ext cx="303326" cy="2659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858" y="3316218"/>
            <a:ext cx="278628" cy="290308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6394" y="3312160"/>
            <a:ext cx="312638" cy="29030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8289" y="3304294"/>
            <a:ext cx="291664" cy="290307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1984" y="3291841"/>
            <a:ext cx="281028" cy="290307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1896" y="2327407"/>
            <a:ext cx="211682" cy="290307"/>
          </a:xfrm>
          <a:prstGeom prst="rect">
            <a:avLst/>
          </a:prstGeom>
        </p:spPr>
      </p:pic>
      <p:sp>
        <p:nvSpPr>
          <p:cNvPr id="130" name="文本框 129"/>
          <p:cNvSpPr txBox="1"/>
          <p:nvPr/>
        </p:nvSpPr>
        <p:spPr>
          <a:xfrm>
            <a:off x="1156208" y="2600138"/>
            <a:ext cx="461599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图像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2006324" y="2600138"/>
            <a:ext cx="461599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声音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2839138" y="2600138"/>
            <a:ext cx="461599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蓝牙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3618176" y="2600138"/>
            <a:ext cx="591405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WLAN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1156208" y="3587203"/>
            <a:ext cx="461599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应用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2006324" y="3587203"/>
            <a:ext cx="461599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安全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2839138" y="3587203"/>
            <a:ext cx="461599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3685912" y="3587203"/>
            <a:ext cx="500026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关于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47" grpId="0" animBg="1"/>
      <p:bldP spid="107" grpId="0" animBg="1"/>
      <p:bldP spid="110" grpId="0" animBg="1"/>
      <p:bldP spid="118" grpId="0" animBg="1"/>
      <p:bldP spid="124" grpId="0" animBg="1"/>
      <p:bldP spid="125" grpId="0" animBg="1"/>
      <p:bldP spid="126" grpId="0" animBg="1"/>
      <p:bldP spid="127" grpId="0" animBg="1"/>
      <p:bldP spid="129" grpId="0" animBg="1"/>
      <p:bldP spid="130" grpId="0"/>
      <p:bldP spid="131" grpId="0"/>
      <p:bldP spid="132" grpId="0"/>
      <p:bldP spid="136" grpId="0"/>
      <p:bldP spid="138" grpId="0"/>
      <p:bldP spid="140" grpId="0"/>
      <p:bldP spid="141" grpId="0"/>
      <p:bldP spid="14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6" y="466454"/>
            <a:ext cx="315722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图片按钮部件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(lv_imgbtn)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776575"/>
            <a:ext cx="34768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*imgbtn = lv_imgbtn_create(parent);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442877"/>
            <a:ext cx="24799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：创建图片按钮部件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6204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2335884"/>
            <a:ext cx="28037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：设置图片源、按钮大小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5134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2675277"/>
            <a:ext cx="80234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lv_imgbtn_set_src(imgbtn, LV_IMGBTN_STATE_..., src_left, src_mid, src_right);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设置某个状态的图片源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lv_obj_set_size(imgbtn, 64 * 3, 64);	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设置图片按钮大小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5880" y="3525739"/>
            <a:ext cx="20989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：设置按钮状态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5479" y="370328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33180" y="3865132"/>
            <a:ext cx="74519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lv_imgbtn_set_state(imgbtn, LV_IMGBTN_STATE_PRESSED);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设置按下状态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5651502" y="1165275"/>
            <a:ext cx="2349288" cy="1036796"/>
            <a:chOff x="5873962" y="703646"/>
            <a:chExt cx="2349288" cy="1036796"/>
          </a:xfrm>
        </p:grpSpPr>
        <p:sp>
          <p:nvSpPr>
            <p:cNvPr id="2" name="矩形 1"/>
            <p:cNvSpPr/>
            <p:nvPr/>
          </p:nvSpPr>
          <p:spPr>
            <a:xfrm>
              <a:off x="5873962" y="1128442"/>
              <a:ext cx="612000" cy="61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rgbClr val="002060"/>
                  </a:solidFill>
                  <a:ea typeface="思源黑体 CN Normal" panose="020B0400000000000000"/>
                </a:rPr>
                <a:t>左</a:t>
              </a:r>
              <a:endParaRPr lang="zh-CN" altLang="en-US" sz="1100">
                <a:solidFill>
                  <a:srgbClr val="002060"/>
                </a:solidFill>
                <a:ea typeface="思源黑体 CN Normal" panose="020B040000000000000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6482296" y="1128442"/>
              <a:ext cx="612000" cy="61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rgbClr val="002060"/>
                  </a:solidFill>
                  <a:ea typeface="思源黑体 CN Normal" panose="020B0400000000000000"/>
                </a:rPr>
                <a:t>中</a:t>
              </a:r>
              <a:endParaRPr lang="zh-CN" altLang="en-US" sz="1400">
                <a:solidFill>
                  <a:srgbClr val="002060"/>
                </a:solidFill>
                <a:ea typeface="思源黑体 CN Normal" panose="020B040000000000000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7090630" y="1128442"/>
              <a:ext cx="612000" cy="612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rgbClr val="002060"/>
                  </a:solidFill>
                  <a:ea typeface="思源黑体 CN Normal" panose="020B0400000000000000"/>
                </a:rPr>
                <a:t>右</a:t>
              </a:r>
              <a:endParaRPr lang="zh-CN" altLang="en-US" sz="1400">
                <a:solidFill>
                  <a:srgbClr val="002060"/>
                </a:solidFill>
                <a:ea typeface="思源黑体 CN Normal" panose="020B0400000000000000"/>
              </a:endParaRPr>
            </a:p>
          </p:txBody>
        </p:sp>
        <p:cxnSp>
          <p:nvCxnSpPr>
            <p:cNvPr id="28" name="直接箭头连接符 27"/>
            <p:cNvCxnSpPr/>
            <p:nvPr/>
          </p:nvCxnSpPr>
          <p:spPr>
            <a:xfrm>
              <a:off x="7811882" y="1128442"/>
              <a:ext cx="0" cy="606968"/>
            </a:xfrm>
            <a:prstGeom prst="straightConnector1">
              <a:avLst/>
            </a:prstGeom>
            <a:ln w="9525">
              <a:solidFill>
                <a:srgbClr val="00206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7694202" y="1128442"/>
              <a:ext cx="240123" cy="0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V="1">
              <a:off x="5878724" y="892969"/>
              <a:ext cx="0" cy="235975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V="1">
              <a:off x="7698964" y="892969"/>
              <a:ext cx="0" cy="233092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>
              <a:off x="5873962" y="1006557"/>
              <a:ext cx="1822621" cy="0"/>
            </a:xfrm>
            <a:prstGeom prst="straightConnector1">
              <a:avLst/>
            </a:prstGeom>
            <a:ln w="9525">
              <a:solidFill>
                <a:srgbClr val="00206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/>
            <p:cNvSpPr txBox="1"/>
            <p:nvPr/>
          </p:nvSpPr>
          <p:spPr>
            <a:xfrm>
              <a:off x="7757396" y="1244507"/>
              <a:ext cx="465854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高度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6543412" y="703646"/>
              <a:ext cx="49103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宽度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7698964" y="1735410"/>
              <a:ext cx="240123" cy="0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22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6" y="466454"/>
            <a:ext cx="315722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图片按钮部件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(lv_imgbtn)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79" y="1404777"/>
            <a:ext cx="470877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拓展知识点：如何显示带有透明度通道的图片？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6140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745879" y="2257432"/>
            <a:ext cx="304507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  准备一张带有透明度通道的图片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45879" y="2787327"/>
            <a:ext cx="571842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  官方图片转换工具中，色彩格式选择：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CF_TRUE_COLOR_ALPHA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343" y="3147526"/>
            <a:ext cx="608400" cy="608400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745879" y="3323391"/>
            <a:ext cx="211162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  声明图片并调用即可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39" grpId="0"/>
      <p:bldP spid="41" grpId="0"/>
      <p:bldP spid="43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556000" y="1833326"/>
            <a:ext cx="2274566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选项卡部件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814583" y="2512078"/>
            <a:ext cx="1628633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(lv_tabview)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: 圆角 37"/>
          <p:cNvSpPr/>
          <p:nvPr/>
        </p:nvSpPr>
        <p:spPr>
          <a:xfrm>
            <a:off x="649118" y="2289063"/>
            <a:ext cx="4320000" cy="187253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9" y="466454"/>
            <a:ext cx="303993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选项卡部件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(lv_tabview)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1" y="1068588"/>
            <a:ext cx="641869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选项卡部件可以实现多页面切换，用户可以在不同的页面中添加内容。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678560" y="2330904"/>
            <a:ext cx="213829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选项卡部件组成部分：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649118" y="1931198"/>
            <a:ext cx="4320000" cy="36000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/>
          <p:cNvSpPr/>
          <p:nvPr/>
        </p:nvSpPr>
        <p:spPr>
          <a:xfrm>
            <a:off x="2820818" y="1931197"/>
            <a:ext cx="1080000" cy="360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978937" y="1925172"/>
            <a:ext cx="50061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消息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2043724" y="1925172"/>
            <a:ext cx="50061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3108511" y="1925172"/>
            <a:ext cx="50061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日程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4173298" y="1925172"/>
            <a:ext cx="50061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会议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1127302" y="2634229"/>
            <a:ext cx="258506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上午 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8:30~12:00		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会见客户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2" name="椭圆 81"/>
          <p:cNvSpPr/>
          <p:nvPr/>
        </p:nvSpPr>
        <p:spPr>
          <a:xfrm>
            <a:off x="1075460" y="2793408"/>
            <a:ext cx="54000" cy="5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127302" y="3024297"/>
            <a:ext cx="258506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下午 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13:30~17:00		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工厂考察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4" name="椭圆 83"/>
          <p:cNvSpPr/>
          <p:nvPr/>
        </p:nvSpPr>
        <p:spPr>
          <a:xfrm>
            <a:off x="1075460" y="3183476"/>
            <a:ext cx="54000" cy="5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127302" y="3396742"/>
            <a:ext cx="258506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晚上 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19:30~21:00		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部门聚餐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6" name="椭圆 85"/>
          <p:cNvSpPr/>
          <p:nvPr/>
        </p:nvSpPr>
        <p:spPr>
          <a:xfrm>
            <a:off x="1075460" y="3555921"/>
            <a:ext cx="54000" cy="5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977010" y="2881314"/>
            <a:ext cx="12124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0" name="椭圆 89"/>
          <p:cNvSpPr/>
          <p:nvPr/>
        </p:nvSpPr>
        <p:spPr>
          <a:xfrm>
            <a:off x="5806609" y="305886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/>
          <p:cNvSpPr txBox="1"/>
          <p:nvPr/>
        </p:nvSpPr>
        <p:spPr>
          <a:xfrm>
            <a:off x="5976610" y="3300900"/>
            <a:ext cx="184024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2" name="椭圆 91"/>
          <p:cNvSpPr/>
          <p:nvPr/>
        </p:nvSpPr>
        <p:spPr>
          <a:xfrm>
            <a:off x="5806210" y="347844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2818642" y="2287476"/>
            <a:ext cx="108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29" grpId="0"/>
      <p:bldP spid="55" grpId="0"/>
      <p:bldP spid="80" grpId="0" animBg="1"/>
      <p:bldP spid="22" grpId="0" animBg="1"/>
      <p:bldP spid="56" grpId="0"/>
      <p:bldP spid="76" grpId="0"/>
      <p:bldP spid="77" grpId="0"/>
      <p:bldP spid="78" grpId="0"/>
      <p:bldP spid="81" grpId="0"/>
      <p:bldP spid="82" grpId="0" animBg="1"/>
      <p:bldP spid="83" grpId="0"/>
      <p:bldP spid="84" grpId="0" animBg="1"/>
      <p:bldP spid="85" grpId="0"/>
      <p:bldP spid="86" grpId="0" animBg="1"/>
      <p:bldP spid="89" grpId="0"/>
      <p:bldP spid="90" grpId="0" animBg="1"/>
      <p:bldP spid="91" grpId="0"/>
      <p:bldP spid="92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6" y="466454"/>
            <a:ext cx="306197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选项卡部件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(lv_tabview)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79" y="1694025"/>
            <a:ext cx="5032489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*tabview =  lv_tabview_create(parent, LV_DIR_..., tab_size);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366677"/>
            <a:ext cx="22576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：创建选项卡部件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5442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2297784"/>
            <a:ext cx="190167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：添加选项卡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4753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2630827"/>
            <a:ext cx="4090024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*tab1 = lv_tabview_add_tab(tabview, "Tab 1"); 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*tab2 = lv_tabview_add_tab(tabview, "Tab 2"); 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5880" y="3519389"/>
            <a:ext cx="27910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：设置当前选中的选项卡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5479" y="369693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33180" y="3852432"/>
            <a:ext cx="6909789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lv_tabview_set_act(tabview, 1, LV_ANIM_OFF); 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索引从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开始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124428" y="1184170"/>
            <a:ext cx="2336143" cy="1932048"/>
            <a:chOff x="6124428" y="1184170"/>
            <a:chExt cx="2336143" cy="1932048"/>
          </a:xfrm>
        </p:grpSpPr>
        <p:sp>
          <p:nvSpPr>
            <p:cNvPr id="26" name="矩形 25"/>
            <p:cNvSpPr/>
            <p:nvPr/>
          </p:nvSpPr>
          <p:spPr>
            <a:xfrm>
              <a:off x="6301439" y="2036988"/>
              <a:ext cx="2159132" cy="10792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6301439" y="1724402"/>
              <a:ext cx="2159132" cy="31258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432312" y="1706166"/>
              <a:ext cx="449784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消息</a:t>
              </a:r>
              <a:endPara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7883279" y="1706166"/>
              <a:ext cx="448328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文档</a:t>
              </a:r>
              <a:endPara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38" name="直接箭头连接符 37"/>
            <p:cNvCxnSpPr/>
            <p:nvPr/>
          </p:nvCxnSpPr>
          <p:spPr>
            <a:xfrm>
              <a:off x="6215864" y="1724402"/>
              <a:ext cx="2431" cy="310561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6125224" y="1728037"/>
              <a:ext cx="183909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6275795" y="1184170"/>
              <a:ext cx="720001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tab_size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7011059" y="1724403"/>
              <a:ext cx="720000" cy="3125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1" name="直接连接符 40"/>
            <p:cNvCxnSpPr/>
            <p:nvPr/>
          </p:nvCxnSpPr>
          <p:spPr>
            <a:xfrm>
              <a:off x="6124428" y="2033376"/>
              <a:ext cx="182322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7140334" y="1706166"/>
              <a:ext cx="43918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日程</a:t>
              </a:r>
              <a:endPara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7009457" y="2030995"/>
              <a:ext cx="720000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/>
          </p:nvSpPr>
          <p:spPr>
            <a:xfrm>
              <a:off x="6589547" y="2172859"/>
              <a:ext cx="1742060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8:30~12:00	</a:t>
              </a: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会见客户</a:t>
              </a:r>
              <a:endPara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6550405" y="2312988"/>
              <a:ext cx="54000" cy="54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589547" y="2416877"/>
              <a:ext cx="1688060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13:30~17:00	</a:t>
              </a: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工厂考察</a:t>
              </a:r>
              <a:endPara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6550405" y="2557006"/>
              <a:ext cx="54000" cy="54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589547" y="2655972"/>
              <a:ext cx="1742059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19:30~21:00	</a:t>
              </a: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部门聚餐</a:t>
              </a:r>
              <a:endPara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6550405" y="2796101"/>
              <a:ext cx="54000" cy="54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43" name="直接连接符 42"/>
            <p:cNvCxnSpPr/>
            <p:nvPr/>
          </p:nvCxnSpPr>
          <p:spPr>
            <a:xfrm flipV="1">
              <a:off x="6215864" y="1499198"/>
              <a:ext cx="155026" cy="22782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68509" y="1499198"/>
              <a:ext cx="539750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22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321050" y="1833326"/>
            <a:ext cx="2592066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平铺视图部件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801883" y="2512078"/>
            <a:ext cx="1628633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(lv_tileview)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: 圆角 37"/>
          <p:cNvSpPr/>
          <p:nvPr/>
        </p:nvSpPr>
        <p:spPr>
          <a:xfrm>
            <a:off x="649118" y="1873250"/>
            <a:ext cx="3605382" cy="2291520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9" y="466454"/>
            <a:ext cx="326517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平铺视图部件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(lv_tileview)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1" y="1074938"/>
            <a:ext cx="664094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平铺视图部件可以实现不同方向的页面切换，用户可以页面中添加内容。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341616" y="2324877"/>
            <a:ext cx="2373854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平铺视图部件组成部分：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3107754" y="2262054"/>
            <a:ext cx="58800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页面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649118" y="1873251"/>
            <a:ext cx="1802690" cy="1140923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1252166" y="3407870"/>
            <a:ext cx="55019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页面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3107754" y="3406599"/>
            <a:ext cx="58800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页面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" name="直接连接符 2"/>
          <p:cNvCxnSpPr>
            <a:stCxn id="38" idx="1"/>
            <a:endCxn id="38" idx="3"/>
          </p:cNvCxnSpPr>
          <p:nvPr/>
        </p:nvCxnSpPr>
        <p:spPr>
          <a:xfrm>
            <a:off x="649118" y="3019010"/>
            <a:ext cx="360538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38" idx="0"/>
            <a:endCxn id="38" idx="2"/>
          </p:cNvCxnSpPr>
          <p:nvPr/>
        </p:nvCxnSpPr>
        <p:spPr>
          <a:xfrm>
            <a:off x="2451809" y="1873250"/>
            <a:ext cx="0" cy="229152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1520157" y="2768600"/>
            <a:ext cx="0" cy="540000"/>
          </a:xfrm>
          <a:prstGeom prst="straightConnector1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prstDash val="sysDot"/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3364410" y="2768600"/>
            <a:ext cx="0" cy="540000"/>
          </a:xfrm>
          <a:prstGeom prst="straightConnector1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prstDash val="sysDot"/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2069514" y="2432938"/>
            <a:ext cx="720000" cy="0"/>
          </a:xfrm>
          <a:prstGeom prst="straightConnector1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prstDash val="sysDot"/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2079109" y="3600252"/>
            <a:ext cx="720000" cy="0"/>
          </a:xfrm>
          <a:prstGeom prst="straightConnector1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prstDash val="sysDot"/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1252165" y="2262054"/>
            <a:ext cx="55218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页面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630465" y="2867815"/>
            <a:ext cx="203039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460064" y="3045364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630065" y="3287401"/>
            <a:ext cx="268843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滚动条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(LV_PART_SCROLLBAR)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5459665" y="346495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29" grpId="0"/>
      <p:bldP spid="55" grpId="0"/>
      <p:bldP spid="76" grpId="0"/>
      <p:bldP spid="51" grpId="0" animBg="1"/>
      <p:bldP spid="77" grpId="0"/>
      <p:bldP spid="78" grpId="0"/>
      <p:bldP spid="56" grpId="0"/>
      <p:bldP spid="25" grpId="0"/>
      <p:bldP spid="26" grpId="0" animBg="1"/>
      <p:bldP spid="27" grpId="0"/>
      <p:bldP spid="28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6" y="466454"/>
            <a:ext cx="328422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平铺视图部件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(lv_tileview)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592425"/>
            <a:ext cx="36038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*tileview = lv_tileview_create( parent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265077"/>
            <a:ext cx="243463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：创建平铺视图部件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4426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2088234"/>
            <a:ext cx="172398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：添加页面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2657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2421277"/>
            <a:ext cx="4981818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*tile1 = lv_tileview_add_tile( tileview, 0, 0, LV_DIR_RIGHT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*tile2 = lv_tileview_add_tile( tileview, 1, 0, LV_DIR_LEFT );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5880" y="3195539"/>
            <a:ext cx="243463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：设置当前显示页面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5479" y="337308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33181" y="3528582"/>
            <a:ext cx="7262310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lv_obj_update_layout( tileview 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更新参数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lv_obj_set_tile( tileview, tile2, LV_ANIM_OFF 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根据页面对象设置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lv_obj_set_tile_id( tileview, 1, 0, LV_ANIM_OFF );				     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根据页面行列设置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6024382" y="1107547"/>
            <a:ext cx="2416820" cy="1737244"/>
            <a:chOff x="6024382" y="1107547"/>
            <a:chExt cx="2416820" cy="1737244"/>
          </a:xfrm>
        </p:grpSpPr>
        <p:sp>
          <p:nvSpPr>
            <p:cNvPr id="45" name="矩形: 圆角 44"/>
            <p:cNvSpPr/>
            <p:nvPr/>
          </p:nvSpPr>
          <p:spPr>
            <a:xfrm>
              <a:off x="6281202" y="1404791"/>
              <a:ext cx="2160000" cy="144000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7630578" y="1555374"/>
              <a:ext cx="588009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页面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6281202" y="1404792"/>
              <a:ext cx="1080000" cy="720000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527988" y="2319072"/>
              <a:ext cx="55019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页面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3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7637869" y="2319073"/>
              <a:ext cx="588009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页面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4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50" name="直接连接符 49"/>
            <p:cNvCxnSpPr>
              <a:stCxn id="45" idx="1"/>
              <a:endCxn id="45" idx="3"/>
            </p:cNvCxnSpPr>
            <p:nvPr/>
          </p:nvCxnSpPr>
          <p:spPr>
            <a:xfrm>
              <a:off x="6281202" y="2124791"/>
              <a:ext cx="2160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>
              <a:stCxn id="45" idx="0"/>
              <a:endCxn id="45" idx="2"/>
            </p:cNvCxnSpPr>
            <p:nvPr/>
          </p:nvCxnSpPr>
          <p:spPr>
            <a:xfrm>
              <a:off x="7361202" y="1404791"/>
              <a:ext cx="0" cy="1440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>
            <a:xfrm>
              <a:off x="6796316" y="1891315"/>
              <a:ext cx="0" cy="468000"/>
            </a:xfrm>
            <a:prstGeom prst="straightConnector1">
              <a:avLst/>
            </a:prstGeom>
            <a:ln w="9525">
              <a:solidFill>
                <a:schemeClr val="accent2">
                  <a:lumMod val="75000"/>
                </a:schemeClr>
              </a:solidFill>
              <a:prstDash val="sysDot"/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/>
            <p:nvPr/>
          </p:nvCxnSpPr>
          <p:spPr>
            <a:xfrm>
              <a:off x="7884037" y="1897133"/>
              <a:ext cx="0" cy="468000"/>
            </a:xfrm>
            <a:prstGeom prst="straightConnector1">
              <a:avLst/>
            </a:prstGeom>
            <a:ln w="9525">
              <a:solidFill>
                <a:schemeClr val="accent2">
                  <a:lumMod val="75000"/>
                </a:schemeClr>
              </a:solidFill>
              <a:prstDash val="sysDot"/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>
            <a:xfrm>
              <a:off x="7082325" y="1738426"/>
              <a:ext cx="540000" cy="0"/>
            </a:xfrm>
            <a:prstGeom prst="straightConnector1">
              <a:avLst/>
            </a:prstGeom>
            <a:ln w="9525">
              <a:solidFill>
                <a:schemeClr val="accent2">
                  <a:lumMod val="75000"/>
                </a:schemeClr>
              </a:solidFill>
              <a:prstDash val="sysDot"/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/>
          </p:nvCxnSpPr>
          <p:spPr>
            <a:xfrm>
              <a:off x="7091920" y="2502303"/>
              <a:ext cx="540000" cy="0"/>
            </a:xfrm>
            <a:prstGeom prst="straightConnector1">
              <a:avLst/>
            </a:prstGeom>
            <a:ln w="9525">
              <a:solidFill>
                <a:schemeClr val="accent2">
                  <a:lumMod val="75000"/>
                </a:schemeClr>
              </a:solidFill>
              <a:prstDash val="sysDot"/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本框 55"/>
            <p:cNvSpPr txBox="1"/>
            <p:nvPr/>
          </p:nvSpPr>
          <p:spPr>
            <a:xfrm>
              <a:off x="6528324" y="1555374"/>
              <a:ext cx="55218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页面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6024382" y="1562054"/>
              <a:ext cx="26478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6030732" y="2328149"/>
              <a:ext cx="26478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6657997" y="1107547"/>
              <a:ext cx="26478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7743411" y="1107547"/>
              <a:ext cx="26478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22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746500" y="1833326"/>
            <a:ext cx="1842766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窗口部件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4062233" y="2512078"/>
            <a:ext cx="1132067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(lv_win)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9" y="466454"/>
            <a:ext cx="222377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窗口部件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(lv_win)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1" y="1113038"/>
            <a:ext cx="478039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窗口部件可以作为一个容器，展现不同功能的页面。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492581" y="2305938"/>
            <a:ext cx="194326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窗口部件组成部分：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791031" y="2856348"/>
            <a:ext cx="152917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头部（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Header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0" name="椭圆 89"/>
          <p:cNvSpPr/>
          <p:nvPr/>
        </p:nvSpPr>
        <p:spPr>
          <a:xfrm>
            <a:off x="5620630" y="303389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46448" y="2064293"/>
            <a:ext cx="3266402" cy="1823085"/>
            <a:chOff x="659148" y="1994443"/>
            <a:chExt cx="3266402" cy="1823085"/>
          </a:xfrm>
        </p:grpSpPr>
        <p:sp>
          <p:nvSpPr>
            <p:cNvPr id="25" name="矩形: 圆角 24"/>
            <p:cNvSpPr/>
            <p:nvPr/>
          </p:nvSpPr>
          <p:spPr>
            <a:xfrm>
              <a:off x="659149" y="2033588"/>
              <a:ext cx="3266401" cy="1783940"/>
            </a:xfrm>
            <a:prstGeom prst="roundRect">
              <a:avLst>
                <a:gd name="adj" fmla="val 3361"/>
              </a:avLst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: 圆角 25"/>
            <p:cNvSpPr/>
            <p:nvPr/>
          </p:nvSpPr>
          <p:spPr>
            <a:xfrm>
              <a:off x="659148" y="2019351"/>
              <a:ext cx="3266401" cy="267332"/>
            </a:xfrm>
            <a:prstGeom prst="roundRect">
              <a:avLst>
                <a:gd name="adj" fmla="val 27125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: 圆角 31"/>
            <p:cNvSpPr/>
            <p:nvPr/>
          </p:nvSpPr>
          <p:spPr>
            <a:xfrm>
              <a:off x="1374672" y="2755858"/>
              <a:ext cx="2079728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33" name="矩形: 圆角 32"/>
            <p:cNvSpPr/>
            <p:nvPr/>
          </p:nvSpPr>
          <p:spPr>
            <a:xfrm>
              <a:off x="1310696" y="2755858"/>
              <a:ext cx="688390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1889683" y="2719633"/>
              <a:ext cx="180000" cy="18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77" y="2718565"/>
              <a:ext cx="216000" cy="185142"/>
            </a:xfrm>
            <a:prstGeom prst="rect">
              <a:avLst/>
            </a:prstGeom>
          </p:spPr>
        </p:pic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5977" y="3215003"/>
              <a:ext cx="216000" cy="201406"/>
            </a:xfrm>
            <a:prstGeom prst="rect">
              <a:avLst/>
            </a:prstGeom>
          </p:spPr>
        </p:pic>
        <p:sp>
          <p:nvSpPr>
            <p:cNvPr id="52" name="矩形: 圆角 51"/>
            <p:cNvSpPr/>
            <p:nvPr/>
          </p:nvSpPr>
          <p:spPr>
            <a:xfrm>
              <a:off x="659149" y="2128519"/>
              <a:ext cx="3266401" cy="20134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: 圆角 43"/>
            <p:cNvSpPr/>
            <p:nvPr/>
          </p:nvSpPr>
          <p:spPr>
            <a:xfrm>
              <a:off x="1374672" y="3267048"/>
              <a:ext cx="2079728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45" name="矩形: 圆角 44"/>
            <p:cNvSpPr/>
            <p:nvPr/>
          </p:nvSpPr>
          <p:spPr>
            <a:xfrm>
              <a:off x="1310696" y="3267048"/>
              <a:ext cx="688390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48" name="椭圆 47"/>
            <p:cNvSpPr/>
            <p:nvPr/>
          </p:nvSpPr>
          <p:spPr>
            <a:xfrm>
              <a:off x="1889683" y="3230823"/>
              <a:ext cx="180000" cy="18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835336" y="1994443"/>
              <a:ext cx="682314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Setting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H="1">
              <a:off x="3708129" y="2137917"/>
              <a:ext cx="72000" cy="72000"/>
            </a:xfrm>
            <a:prstGeom prst="line">
              <a:avLst/>
            </a:prstGeom>
            <a:ln cap="rnd"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 flipV="1">
              <a:off x="3708129" y="2137917"/>
              <a:ext cx="72000" cy="72000"/>
            </a:xfrm>
            <a:prstGeom prst="line">
              <a:avLst/>
            </a:prstGeom>
            <a:ln cap="rnd"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446" y="2109471"/>
              <a:ext cx="144000" cy="144000"/>
            </a:xfrm>
            <a:prstGeom prst="rect">
              <a:avLst/>
            </a:prstGeom>
          </p:spPr>
        </p:pic>
      </p:grpSp>
      <p:sp>
        <p:nvSpPr>
          <p:cNvPr id="53" name="文本框 52"/>
          <p:cNvSpPr txBox="1"/>
          <p:nvPr/>
        </p:nvSpPr>
        <p:spPr>
          <a:xfrm>
            <a:off x="5791031" y="3206024"/>
            <a:ext cx="152917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Content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5620630" y="338357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5" grpId="0"/>
      <p:bldP spid="89" grpId="0"/>
      <p:bldP spid="90" grpId="0" animBg="1"/>
      <p:bldP spid="53" grpId="0"/>
      <p:bldP spid="5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6" y="466454"/>
            <a:ext cx="217932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窗口部件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(lv_win)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630525"/>
            <a:ext cx="40166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*win = lv_win_create(parent, header_height);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1" y="1303177"/>
            <a:ext cx="207744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：创建窗口部件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4807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2139034"/>
            <a:ext cx="227797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：添加标题、按钮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23165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2472077"/>
            <a:ext cx="45309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*title = lv_win_add_title(win, "Setting");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*btn = lv_win_add_btn(win, LV_SYMBOL_CLOSE, 20);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5880" y="3271739"/>
            <a:ext cx="2127296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：添加主体内容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5479" y="344928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33181" y="3604782"/>
            <a:ext cx="6230106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*content = lv_win_get_content(win); 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获取主体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*label = lv_label_create(content);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添加内容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650431" y="1051838"/>
            <a:ext cx="2708655" cy="2003220"/>
            <a:chOff x="5663131" y="1051838"/>
            <a:chExt cx="2708655" cy="2003220"/>
          </a:xfrm>
        </p:grpSpPr>
        <p:sp>
          <p:nvSpPr>
            <p:cNvPr id="36" name="矩形: 圆角 35"/>
            <p:cNvSpPr/>
            <p:nvPr/>
          </p:nvSpPr>
          <p:spPr>
            <a:xfrm>
              <a:off x="5844531" y="1601894"/>
              <a:ext cx="2527255" cy="1453164"/>
            </a:xfrm>
            <a:prstGeom prst="roundRect">
              <a:avLst>
                <a:gd name="adj" fmla="val 3361"/>
              </a:avLst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: 圆角 36"/>
            <p:cNvSpPr/>
            <p:nvPr/>
          </p:nvSpPr>
          <p:spPr>
            <a:xfrm>
              <a:off x="5844530" y="1587656"/>
              <a:ext cx="2527255" cy="267332"/>
            </a:xfrm>
            <a:prstGeom prst="roundRect">
              <a:avLst>
                <a:gd name="adj" fmla="val 27125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: 圆角 37"/>
            <p:cNvSpPr/>
            <p:nvPr/>
          </p:nvSpPr>
          <p:spPr>
            <a:xfrm>
              <a:off x="6990566" y="2234727"/>
              <a:ext cx="1077716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39" name="矩形: 圆角 38"/>
            <p:cNvSpPr/>
            <p:nvPr/>
          </p:nvSpPr>
          <p:spPr>
            <a:xfrm>
              <a:off x="6411579" y="2234727"/>
              <a:ext cx="688390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6990566" y="2198502"/>
              <a:ext cx="180000" cy="18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6860" y="2197434"/>
              <a:ext cx="216000" cy="185142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6860" y="2579572"/>
              <a:ext cx="216000" cy="201406"/>
            </a:xfrm>
            <a:prstGeom prst="rect">
              <a:avLst/>
            </a:prstGeom>
          </p:spPr>
        </p:pic>
        <p:sp>
          <p:nvSpPr>
            <p:cNvPr id="43" name="矩形: 圆角 42"/>
            <p:cNvSpPr/>
            <p:nvPr/>
          </p:nvSpPr>
          <p:spPr>
            <a:xfrm>
              <a:off x="5844531" y="1696824"/>
              <a:ext cx="2527255" cy="20134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: 圆角 43"/>
            <p:cNvSpPr/>
            <p:nvPr/>
          </p:nvSpPr>
          <p:spPr>
            <a:xfrm>
              <a:off x="6990566" y="2631617"/>
              <a:ext cx="1077716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57" name="矩形: 圆角 56"/>
            <p:cNvSpPr/>
            <p:nvPr/>
          </p:nvSpPr>
          <p:spPr>
            <a:xfrm>
              <a:off x="6411579" y="2631617"/>
              <a:ext cx="688390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6990566" y="2595392"/>
              <a:ext cx="180000" cy="18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6020718" y="1566717"/>
              <a:ext cx="682314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Setting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>
            <a:xfrm flipH="1">
              <a:off x="8179136" y="1708560"/>
              <a:ext cx="72000" cy="72000"/>
            </a:xfrm>
            <a:prstGeom prst="line">
              <a:avLst/>
            </a:prstGeom>
            <a:ln cap="rnd"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 flipV="1">
              <a:off x="8179136" y="1708560"/>
              <a:ext cx="72000" cy="72000"/>
            </a:xfrm>
            <a:prstGeom prst="line">
              <a:avLst/>
            </a:prstGeom>
            <a:ln cap="rnd"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66" name="图片 65"/>
            <p:cNvPicPr>
              <a:picLocks noChangeAspect="1"/>
            </p:cNvPicPr>
            <p:nvPr/>
          </p:nvPicPr>
          <p:blipFill>
            <a:blip r:embed="rId4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4828" y="1677776"/>
              <a:ext cx="144000" cy="144000"/>
            </a:xfrm>
            <a:prstGeom prst="rect">
              <a:avLst/>
            </a:prstGeom>
          </p:spPr>
        </p:pic>
        <p:cxnSp>
          <p:nvCxnSpPr>
            <p:cNvPr id="67" name="直接箭头连接符 66"/>
            <p:cNvCxnSpPr/>
            <p:nvPr/>
          </p:nvCxnSpPr>
          <p:spPr>
            <a:xfrm>
              <a:off x="5754567" y="1592070"/>
              <a:ext cx="2431" cy="310561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5663927" y="1595705"/>
              <a:ext cx="183909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本框 68"/>
            <p:cNvSpPr txBox="1"/>
            <p:nvPr/>
          </p:nvSpPr>
          <p:spPr>
            <a:xfrm>
              <a:off x="5814499" y="1051838"/>
              <a:ext cx="117606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header_height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70" name="直接连接符 69"/>
            <p:cNvCxnSpPr/>
            <p:nvPr/>
          </p:nvCxnSpPr>
          <p:spPr>
            <a:xfrm>
              <a:off x="5663131" y="1901044"/>
              <a:ext cx="182322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V="1">
              <a:off x="5754567" y="1366866"/>
              <a:ext cx="155026" cy="22782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5907212" y="1366866"/>
              <a:ext cx="968063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22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524250" y="1833326"/>
            <a:ext cx="2254250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消息框部件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789183" y="2512078"/>
            <a:ext cx="1628633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(lv_msgbox)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9" y="466454"/>
            <a:ext cx="304292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消息框部件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(lv_msgbox)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0" y="1043188"/>
            <a:ext cx="580275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消息框部件可以实现弹窗提示，常用于消息通知、确定操作等。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371931" y="1797938"/>
            <a:ext cx="211471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消息框部件组成部分：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670381" y="2291198"/>
            <a:ext cx="107331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obj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0" name="椭圆 89"/>
          <p:cNvSpPr/>
          <p:nvPr/>
        </p:nvSpPr>
        <p:spPr>
          <a:xfrm>
            <a:off x="5512680" y="248144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5670381" y="2627536"/>
            <a:ext cx="116221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标题（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title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5512680" y="2817785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646448" y="1870867"/>
            <a:ext cx="3266402" cy="2154415"/>
            <a:chOff x="646448" y="1972467"/>
            <a:chExt cx="3266402" cy="2154415"/>
          </a:xfrm>
        </p:grpSpPr>
        <p:sp>
          <p:nvSpPr>
            <p:cNvPr id="35" name="矩形: 圆角 34"/>
            <p:cNvSpPr/>
            <p:nvPr/>
          </p:nvSpPr>
          <p:spPr>
            <a:xfrm>
              <a:off x="646449" y="2008187"/>
              <a:ext cx="3266401" cy="2118695"/>
            </a:xfrm>
            <a:prstGeom prst="roundRect">
              <a:avLst>
                <a:gd name="adj" fmla="val 3361"/>
              </a:avLst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: 圆角 35"/>
            <p:cNvSpPr/>
            <p:nvPr/>
          </p:nvSpPr>
          <p:spPr>
            <a:xfrm>
              <a:off x="646448" y="1993951"/>
              <a:ext cx="3266401" cy="267332"/>
            </a:xfrm>
            <a:prstGeom prst="roundRect">
              <a:avLst>
                <a:gd name="adj" fmla="val 27125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: 圆角 37"/>
            <p:cNvSpPr/>
            <p:nvPr/>
          </p:nvSpPr>
          <p:spPr>
            <a:xfrm>
              <a:off x="1361972" y="2920958"/>
              <a:ext cx="2079728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39" name="矩形: 圆角 38"/>
            <p:cNvSpPr/>
            <p:nvPr/>
          </p:nvSpPr>
          <p:spPr>
            <a:xfrm>
              <a:off x="1297996" y="2920958"/>
              <a:ext cx="688390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1876983" y="2884733"/>
              <a:ext cx="180000" cy="18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3277" y="2883665"/>
              <a:ext cx="216000" cy="185142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3277" y="3380103"/>
              <a:ext cx="216000" cy="201406"/>
            </a:xfrm>
            <a:prstGeom prst="rect">
              <a:avLst/>
            </a:prstGeom>
          </p:spPr>
        </p:pic>
        <p:sp>
          <p:nvSpPr>
            <p:cNvPr id="46" name="矩形: 圆角 45"/>
            <p:cNvSpPr/>
            <p:nvPr/>
          </p:nvSpPr>
          <p:spPr>
            <a:xfrm>
              <a:off x="646449" y="2103119"/>
              <a:ext cx="3266401" cy="22656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1361972" y="3432148"/>
              <a:ext cx="2079728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49" name="矩形: 圆角 48"/>
            <p:cNvSpPr/>
            <p:nvPr/>
          </p:nvSpPr>
          <p:spPr>
            <a:xfrm>
              <a:off x="1297996" y="3432148"/>
              <a:ext cx="688390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1876983" y="3395923"/>
              <a:ext cx="180000" cy="18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858354" y="1972467"/>
              <a:ext cx="729939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Setting</a:t>
              </a:r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4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746" y="2077721"/>
              <a:ext cx="177212" cy="177212"/>
            </a:xfrm>
            <a:prstGeom prst="rect">
              <a:avLst/>
            </a:prstGeom>
          </p:spPr>
        </p:pic>
        <p:sp>
          <p:nvSpPr>
            <p:cNvPr id="59" name="矩形: 圆角 58"/>
            <p:cNvSpPr/>
            <p:nvPr/>
          </p:nvSpPr>
          <p:spPr>
            <a:xfrm>
              <a:off x="1311613" y="2691443"/>
              <a:ext cx="1977686" cy="1056126"/>
            </a:xfrm>
            <a:prstGeom prst="roundRect">
              <a:avLst>
                <a:gd name="adj" fmla="val 3361"/>
              </a:avLst>
            </a:prstGeom>
            <a:solidFill>
              <a:srgbClr val="FFFFFF">
                <a:alpha val="94902"/>
              </a:srgbClr>
            </a:solidFill>
            <a:ln w="3175">
              <a:solidFill>
                <a:schemeClr val="bg1">
                  <a:lumMod val="6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357405" y="2955679"/>
              <a:ext cx="1614394" cy="5178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音量过大可能会损伤听力</a:t>
              </a:r>
              <a:endPara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是否继续？</a:t>
              </a:r>
              <a:endPara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2317666" y="3385929"/>
              <a:ext cx="442017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accent1">
                      <a:lumMod val="50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继续</a:t>
              </a:r>
              <a:endParaRPr lang="zh-CN" altLang="en-US" sz="1000">
                <a:solidFill>
                  <a:schemeClr val="accent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733694" y="3385929"/>
              <a:ext cx="442017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accent1">
                      <a:lumMod val="50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取消</a:t>
              </a:r>
              <a:endParaRPr lang="zh-CN" altLang="en-US" sz="1000">
                <a:solidFill>
                  <a:schemeClr val="accent1">
                    <a:lumMod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cxnSp>
          <p:nvCxnSpPr>
            <p:cNvPr id="66" name="直接连接符 65"/>
            <p:cNvCxnSpPr/>
            <p:nvPr/>
          </p:nvCxnSpPr>
          <p:spPr>
            <a:xfrm flipH="1">
              <a:off x="3084574" y="2819531"/>
              <a:ext cx="72000" cy="72000"/>
            </a:xfrm>
            <a:prstGeom prst="line">
              <a:avLst/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 flipV="1">
              <a:off x="3084574" y="2819531"/>
              <a:ext cx="72000" cy="72000"/>
            </a:xfrm>
            <a:prstGeom prst="line">
              <a:avLst/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文本框 36"/>
            <p:cNvSpPr txBox="1"/>
            <p:nvPr/>
          </p:nvSpPr>
          <p:spPr>
            <a:xfrm>
              <a:off x="1357405" y="2704745"/>
              <a:ext cx="519578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rgbClr val="FF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注意：</a:t>
              </a:r>
              <a:endParaRPr lang="zh-CN" altLang="en-US" sz="1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5670381" y="2963874"/>
            <a:ext cx="1990997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关闭按钮（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close_btn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5512680" y="315412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5670381" y="3300212"/>
            <a:ext cx="146066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内容（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content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512680" y="349046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5670381" y="3636550"/>
            <a:ext cx="1990997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按钮矩阵（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btnmatrix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5512680" y="382679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5" grpId="0"/>
      <p:bldP spid="89" grpId="0"/>
      <p:bldP spid="90" grpId="0" animBg="1"/>
      <p:bldP spid="53" grpId="0"/>
      <p:bldP spid="54" grpId="0" animBg="1"/>
      <p:bldP spid="43" grpId="0"/>
      <p:bldP spid="44" grpId="0" animBg="1"/>
      <p:bldP spid="45" grpId="0"/>
      <p:bldP spid="48" grpId="0" animBg="1"/>
      <p:bldP spid="52" grpId="0"/>
      <p:bldP spid="56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6" y="466454"/>
            <a:ext cx="305562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消息框部件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(lv_msgbox)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624175"/>
            <a:ext cx="754722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static const char *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btns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[] = { "Continue", "Close", "" };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*msgbox = lv_msgbox_create( lv_scr_act(), "Notice", "Do you want to continue?", 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btns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true 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296827"/>
            <a:ext cx="23021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：创建消息框部件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4743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3199484"/>
            <a:ext cx="26005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：获取按钮索引、文本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33770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3532527"/>
            <a:ext cx="7115420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*target = lv_event_get_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current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_target(e);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获取当前触发源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lv_msgbox_get_active_btn(target);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获取按钮索引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lv_msgbox_get_active_btn_text(target);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获取按钮文本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45880" y="2392603"/>
            <a:ext cx="19020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：关闭消息框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575479" y="257015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33180" y="2725646"/>
            <a:ext cx="21497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lv_msgbox_close(msgbox);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155293" y="811971"/>
            <a:ext cx="1772961" cy="911305"/>
            <a:chOff x="6279265" y="837455"/>
            <a:chExt cx="1772961" cy="911305"/>
          </a:xfrm>
        </p:grpSpPr>
        <p:sp>
          <p:nvSpPr>
            <p:cNvPr id="49" name="矩形: 圆角 48"/>
            <p:cNvSpPr/>
            <p:nvPr/>
          </p:nvSpPr>
          <p:spPr>
            <a:xfrm>
              <a:off x="6279265" y="837455"/>
              <a:ext cx="1772961" cy="911305"/>
            </a:xfrm>
            <a:prstGeom prst="roundRect">
              <a:avLst>
                <a:gd name="adj" fmla="val 3361"/>
              </a:avLst>
            </a:prstGeom>
            <a:solidFill>
              <a:srgbClr val="FFFFFF">
                <a:alpha val="94902"/>
              </a:srgbClr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6325057" y="1108041"/>
              <a:ext cx="1614394" cy="29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等线" panose="02010600030101010101" charset="-122"/>
                  <a:ea typeface="等线" panose="02010600030101010101" charset="-122"/>
                </a:rPr>
                <a:t>Do you want to continue?</a:t>
              </a:r>
              <a:endPara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6780332" y="1379541"/>
              <a:ext cx="718404" cy="29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accent1">
                      <a:lumMod val="75000"/>
                    </a:schemeClr>
                  </a:solidFill>
                  <a:latin typeface="等线" panose="02010600030101010101" charset="-122"/>
                  <a:ea typeface="等线" panose="02010600030101010101" charset="-122"/>
                </a:rPr>
                <a:t>Continue</a:t>
              </a:r>
              <a:endParaRPr lang="zh-CN" altLang="en-US" sz="1000">
                <a:solidFill>
                  <a:schemeClr val="accent1">
                    <a:lumMod val="75000"/>
                  </a:schemeClr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7447937" y="1379541"/>
              <a:ext cx="504840" cy="29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accent1">
                      <a:lumMod val="75000"/>
                    </a:schemeClr>
                  </a:solidFill>
                  <a:latin typeface="等线" panose="02010600030101010101" charset="-122"/>
                  <a:ea typeface="等线" panose="02010600030101010101" charset="-122"/>
                </a:rPr>
                <a:t>Close</a:t>
              </a:r>
              <a:endParaRPr lang="zh-CN" altLang="en-US" sz="1000">
                <a:solidFill>
                  <a:schemeClr val="accent1">
                    <a:lumMod val="75000"/>
                  </a:schemeClr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>
            <a:xfrm flipH="1">
              <a:off x="7842676" y="965543"/>
              <a:ext cx="72000" cy="72000"/>
            </a:xfrm>
            <a:prstGeom prst="line">
              <a:avLst/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 flipV="1">
              <a:off x="7842676" y="965543"/>
              <a:ext cx="72000" cy="72000"/>
            </a:xfrm>
            <a:prstGeom prst="line">
              <a:avLst/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文本框 54"/>
            <p:cNvSpPr txBox="1"/>
            <p:nvPr/>
          </p:nvSpPr>
          <p:spPr>
            <a:xfrm>
              <a:off x="6312357" y="850757"/>
              <a:ext cx="614024" cy="29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FF0000"/>
                  </a:solidFill>
                  <a:latin typeface="等线" panose="02010600030101010101" charset="-122"/>
                  <a:ea typeface="等线" panose="02010600030101010101" charset="-122"/>
                </a:rPr>
                <a:t>Notice</a:t>
              </a:r>
              <a:endParaRPr lang="zh-CN" altLang="en-US" sz="10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4580601" y="2489523"/>
            <a:ext cx="53339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标题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61" name="直接连接符 60"/>
          <p:cNvCxnSpPr/>
          <p:nvPr/>
        </p:nvCxnSpPr>
        <p:spPr>
          <a:xfrm flipV="1">
            <a:off x="4847296" y="2214725"/>
            <a:ext cx="0" cy="28800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5727702" y="2487005"/>
            <a:ext cx="79374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主体文本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63" name="直接连接符 62"/>
          <p:cNvCxnSpPr/>
          <p:nvPr/>
        </p:nvCxnSpPr>
        <p:spPr>
          <a:xfrm flipV="1">
            <a:off x="6113739" y="2212207"/>
            <a:ext cx="0" cy="28800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6911600" y="2487005"/>
            <a:ext cx="79374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按钮矩阵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73" name="直接连接符 72"/>
          <p:cNvCxnSpPr/>
          <p:nvPr/>
        </p:nvCxnSpPr>
        <p:spPr>
          <a:xfrm flipV="1">
            <a:off x="7432303" y="2212207"/>
            <a:ext cx="0" cy="28800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7679949" y="2485524"/>
            <a:ext cx="79374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关闭按钮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 flipV="1">
            <a:off x="7902195" y="2210726"/>
            <a:ext cx="0" cy="28800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46" grpId="0"/>
      <p:bldP spid="47" grpId="0" animBg="1"/>
      <p:bldP spid="48" grpId="0"/>
      <p:bldP spid="56" grpId="0"/>
      <p:bldP spid="62" grpId="0"/>
      <p:bldP spid="64" grpId="0"/>
      <p:bldP spid="74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524250" y="1833326"/>
            <a:ext cx="2254250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微调器部件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789183" y="2512078"/>
            <a:ext cx="1628633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(lv_spinbox)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圆角 34"/>
          <p:cNvSpPr/>
          <p:nvPr/>
        </p:nvSpPr>
        <p:spPr>
          <a:xfrm>
            <a:off x="646449" y="2078037"/>
            <a:ext cx="3266401" cy="1917337"/>
          </a:xfrm>
          <a:prstGeom prst="roundRect">
            <a:avLst>
              <a:gd name="adj" fmla="val 3361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: 圆角 73"/>
          <p:cNvSpPr/>
          <p:nvPr/>
        </p:nvSpPr>
        <p:spPr>
          <a:xfrm>
            <a:off x="2439705" y="3306598"/>
            <a:ext cx="677290" cy="267501"/>
          </a:xfrm>
          <a:prstGeom prst="roundRect">
            <a:avLst>
              <a:gd name="adj" fmla="val 3361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9" y="466454"/>
            <a:ext cx="304292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微调器部件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(lv_spinbox)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1" y="1119388"/>
            <a:ext cx="639964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微调器部件本质上就是一个数字文本，常用于精确调节某个参数的值。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390981" y="2274188"/>
            <a:ext cx="211471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微调器部件组成部分：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599731" y="2759783"/>
            <a:ext cx="899997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电压阈值：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2445544" y="2823960"/>
            <a:ext cx="677290" cy="268061"/>
          </a:xfrm>
          <a:prstGeom prst="roundRect">
            <a:avLst>
              <a:gd name="adj" fmla="val 3361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3382238" y="2770613"/>
            <a:ext cx="30584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5" name="矩形: 圆角 64"/>
          <p:cNvSpPr/>
          <p:nvPr/>
        </p:nvSpPr>
        <p:spPr>
          <a:xfrm>
            <a:off x="646448" y="2078195"/>
            <a:ext cx="3266401" cy="267332"/>
          </a:xfrm>
          <a:prstGeom prst="roundRect">
            <a:avLst>
              <a:gd name="adj" fmla="val 2712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: 圆角 67"/>
          <p:cNvSpPr/>
          <p:nvPr/>
        </p:nvSpPr>
        <p:spPr>
          <a:xfrm>
            <a:off x="646449" y="2187363"/>
            <a:ext cx="3266401" cy="22656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858354" y="2056711"/>
            <a:ext cx="729939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Setting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70" name="图片 69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46" y="2161965"/>
            <a:ext cx="177212" cy="177212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1599731" y="3250104"/>
            <a:ext cx="899997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电流阈值：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382238" y="3260987"/>
            <a:ext cx="30584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3122835" y="2823960"/>
            <a:ext cx="226619" cy="268061"/>
          </a:xfrm>
          <a:prstGeom prst="roundRect">
            <a:avLst>
              <a:gd name="adj" fmla="val 3361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等腰三角形 13"/>
          <p:cNvSpPr/>
          <p:nvPr/>
        </p:nvSpPr>
        <p:spPr>
          <a:xfrm>
            <a:off x="3211757" y="2904240"/>
            <a:ext cx="54000" cy="360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 flipV="1">
            <a:off x="3211757" y="2987885"/>
            <a:ext cx="54000" cy="360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: 圆角 80"/>
          <p:cNvSpPr/>
          <p:nvPr/>
        </p:nvSpPr>
        <p:spPr>
          <a:xfrm>
            <a:off x="3115726" y="3306598"/>
            <a:ext cx="226619" cy="267501"/>
          </a:xfrm>
          <a:prstGeom prst="roundRect">
            <a:avLst>
              <a:gd name="adj" fmla="val 3361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3211757" y="3388521"/>
            <a:ext cx="54000" cy="360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flipV="1">
            <a:off x="3211757" y="3472166"/>
            <a:ext cx="54000" cy="360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5405509" y="2793954"/>
            <a:ext cx="19653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3" name="椭圆 82"/>
          <p:cNvSpPr/>
          <p:nvPr/>
        </p:nvSpPr>
        <p:spPr>
          <a:xfrm>
            <a:off x="5235509" y="297150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5425431" y="3217924"/>
            <a:ext cx="2171933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光标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(LV_PART_CURSOR)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1" name="椭圆 90"/>
          <p:cNvSpPr/>
          <p:nvPr/>
        </p:nvSpPr>
        <p:spPr>
          <a:xfrm>
            <a:off x="5255032" y="340023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61" y="2854570"/>
            <a:ext cx="707150" cy="679282"/>
          </a:xfrm>
          <a:prstGeom prst="rect">
            <a:avLst/>
          </a:prstGeom>
        </p:spPr>
      </p:pic>
      <p:sp>
        <p:nvSpPr>
          <p:cNvPr id="42" name="矩形 41"/>
          <p:cNvSpPr/>
          <p:nvPr/>
        </p:nvSpPr>
        <p:spPr>
          <a:xfrm>
            <a:off x="2705879" y="2823960"/>
            <a:ext cx="105543" cy="268062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2703498" y="3306741"/>
            <a:ext cx="105543" cy="268062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2419406" y="3258184"/>
            <a:ext cx="702943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+10.05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424961" y="2774955"/>
            <a:ext cx="702943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+12.10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74" grpId="0" animBg="1"/>
      <p:bldP spid="29" grpId="0"/>
      <p:bldP spid="55" grpId="0"/>
      <p:bldP spid="52" grpId="0"/>
      <p:bldP spid="57" grpId="0" animBg="1"/>
      <p:bldP spid="64" grpId="0"/>
      <p:bldP spid="65" grpId="0" animBg="1"/>
      <p:bldP spid="68" grpId="0" animBg="1"/>
      <p:bldP spid="69" grpId="0"/>
      <p:bldP spid="71" grpId="0"/>
      <p:bldP spid="73" grpId="0"/>
      <p:bldP spid="80" grpId="0" animBg="1"/>
      <p:bldP spid="14" grpId="0" animBg="1"/>
      <p:bldP spid="77" grpId="0" animBg="1"/>
      <p:bldP spid="81" grpId="0" animBg="1"/>
      <p:bldP spid="78" grpId="0" animBg="1"/>
      <p:bldP spid="79" grpId="0" animBg="1"/>
      <p:bldP spid="82" grpId="0"/>
      <p:bldP spid="83" grpId="0" animBg="1"/>
      <p:bldP spid="88" grpId="0"/>
      <p:bldP spid="91" grpId="0" animBg="1"/>
      <p:bldP spid="42" grpId="0" animBg="1"/>
      <p:bldP spid="43" grpId="0" animBg="1"/>
      <p:bldP spid="72" grpId="0"/>
      <p:bldP spid="61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6" y="466454"/>
            <a:ext cx="305562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微调器部件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(lv_spinbox)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725775"/>
            <a:ext cx="35467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*spinbox = lv_spinbox_create(parent);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398427"/>
            <a:ext cx="2264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：创建微调器部件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5759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3320134"/>
            <a:ext cx="266865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：设置步进值、范围值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34976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3653177"/>
            <a:ext cx="77821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lv_spinbox_set_step(spinbox, 200);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设置步进值，默认为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lv_spinbox_set_range(spinbox, -1000, 1000);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设置范围值，默认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±99999*/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45880" y="2214803"/>
            <a:ext cx="2264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：数值递增、递减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575479" y="239235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33180" y="2547846"/>
            <a:ext cx="63978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lv_spinbox_increment(spinbox);	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递增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lv_spinbox_decrement(spinbox);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递减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46" grpId="0"/>
      <p:bldP spid="47" grpId="0" animBg="1"/>
      <p:bldP spid="48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6" y="466454"/>
            <a:ext cx="305562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微调器部件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(lv_spinbox)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2684625"/>
            <a:ext cx="79345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lv_spinbox_set_digit_format(spinbox, 4, 2); 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设置数字位数、小数点位置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lv_spinbox_set_pos(spinbox, 3);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设置光标位置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2350927"/>
            <a:ext cx="30133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：设置数字格式、光标位置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25284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745880" y="3535603"/>
            <a:ext cx="19338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6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：获取当前值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575479" y="371315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10710" y="3868646"/>
            <a:ext cx="781734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lv_spinbox_get_value(spinbox);	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返回值为整数，而非小数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45880" y="1446884"/>
            <a:ext cx="19338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：设置当前值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75479" y="16244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33180" y="1779927"/>
            <a:ext cx="27847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lv_spinbox_set_value(spinbox, 400);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6526919" y="980631"/>
            <a:ext cx="1337715" cy="1516467"/>
            <a:chOff x="6076069" y="946303"/>
            <a:chExt cx="1337715" cy="1516467"/>
          </a:xfrm>
        </p:grpSpPr>
        <p:sp>
          <p:nvSpPr>
            <p:cNvPr id="24" name="矩形: 圆角 23"/>
            <p:cNvSpPr/>
            <p:nvPr/>
          </p:nvSpPr>
          <p:spPr>
            <a:xfrm>
              <a:off x="6331794" y="1543060"/>
              <a:ext cx="824704" cy="421192"/>
            </a:xfrm>
            <a:prstGeom prst="roundRect">
              <a:avLst>
                <a:gd name="adj" fmla="val 3361"/>
              </a:avLst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: 圆角 25"/>
            <p:cNvSpPr/>
            <p:nvPr/>
          </p:nvSpPr>
          <p:spPr>
            <a:xfrm>
              <a:off x="7155278" y="1543060"/>
              <a:ext cx="258506" cy="421192"/>
            </a:xfrm>
            <a:prstGeom prst="roundRect">
              <a:avLst>
                <a:gd name="adj" fmla="val 3361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>
              <a:off x="7235650" y="1644142"/>
              <a:ext cx="108000" cy="72000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145446" y="2126075"/>
              <a:ext cx="1239604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小数点位置：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</a:t>
              </a:r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3" name="等腰三角形 32"/>
            <p:cNvSpPr/>
            <p:nvPr/>
          </p:nvSpPr>
          <p:spPr>
            <a:xfrm flipV="1">
              <a:off x="7235650" y="1793745"/>
              <a:ext cx="108000" cy="72000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6505780" y="1543893"/>
              <a:ext cx="109541" cy="420359"/>
            </a:xfrm>
            <a:prstGeom prst="rect">
              <a:avLst/>
            </a:prstGeom>
            <a:solidFill>
              <a:schemeClr val="bg1">
                <a:lumMod val="65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箭头连接符 7"/>
            <p:cNvCxnSpPr/>
            <p:nvPr/>
          </p:nvCxnSpPr>
          <p:spPr>
            <a:xfrm flipV="1">
              <a:off x="6742657" y="1859605"/>
              <a:ext cx="0" cy="36000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6076069" y="946303"/>
              <a:ext cx="1080380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光标位置：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3</a:t>
              </a:r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37" name="直接箭头连接符 36"/>
            <p:cNvCxnSpPr/>
            <p:nvPr/>
          </p:nvCxnSpPr>
          <p:spPr>
            <a:xfrm>
              <a:off x="6558980" y="1244600"/>
              <a:ext cx="0" cy="28800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6285243" y="1538589"/>
              <a:ext cx="824703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+04.00</a:t>
              </a:r>
              <a:endParaRPr lang="zh-CN" altLang="en-US" sz="1400"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46" grpId="0"/>
      <p:bldP spid="47" grpId="0" animBg="1"/>
      <p:bldP spid="48" grpId="0"/>
      <p:bldP spid="21" grpId="0"/>
      <p:bldP spid="22" grpId="0" animBg="1"/>
      <p:bldP spid="23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文本框 7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/>
        </p:nvSpPr>
        <p:spPr bwMode="auto">
          <a:xfrm>
            <a:off x="3740150" y="1833326"/>
            <a:ext cx="1855466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表格部件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/>
          <p:cNvSpPr>
            <a:spLocks noChangeArrowheads="1"/>
          </p:cNvSpPr>
          <p:nvPr/>
        </p:nvSpPr>
        <p:spPr bwMode="auto">
          <a:xfrm>
            <a:off x="3947933" y="2512078"/>
            <a:ext cx="1367017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(lv_table)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9" y="466454"/>
            <a:ext cx="2475599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表格部件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(lv_table)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4551" y="1119388"/>
            <a:ext cx="659014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表格部件由一个个单元格组成，它的单元格中只能存放文本形式的内容。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397331" y="2388488"/>
            <a:ext cx="196539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表格部件组成部分：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5411859" y="2889204"/>
            <a:ext cx="19653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3" name="椭圆 82"/>
          <p:cNvSpPr/>
          <p:nvPr/>
        </p:nvSpPr>
        <p:spPr>
          <a:xfrm>
            <a:off x="5241859" y="306675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5418259" y="3254894"/>
            <a:ext cx="218545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单元格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(LV_PART_ITEMS)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5" name="椭圆 84"/>
          <p:cNvSpPr/>
          <p:nvPr/>
        </p:nvSpPr>
        <p:spPr>
          <a:xfrm>
            <a:off x="5247860" y="343403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628650" y="2225819"/>
            <a:ext cx="3240000" cy="1560716"/>
            <a:chOff x="628650" y="2225819"/>
            <a:chExt cx="3240000" cy="1560716"/>
          </a:xfrm>
        </p:grpSpPr>
        <p:sp>
          <p:nvSpPr>
            <p:cNvPr id="2" name="矩形: 圆角 1"/>
            <p:cNvSpPr/>
            <p:nvPr/>
          </p:nvSpPr>
          <p:spPr>
            <a:xfrm>
              <a:off x="628650" y="2227762"/>
              <a:ext cx="3240000" cy="36212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67195" y="2225819"/>
              <a:ext cx="50280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用户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587509" y="2225819"/>
              <a:ext cx="50280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时间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407823" y="2225819"/>
              <a:ext cx="50280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地点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228138" y="2225819"/>
              <a:ext cx="50280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领域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628650" y="2984479"/>
              <a:ext cx="324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628650" y="3393889"/>
              <a:ext cx="324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628650" y="3786535"/>
              <a:ext cx="324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843395" y="2620407"/>
              <a:ext cx="34405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A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600209" y="2620407"/>
              <a:ext cx="425441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</a:t>
              </a: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月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414173" y="2620407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广州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228138" y="2620407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轨道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43395" y="3027187"/>
              <a:ext cx="34405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B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600209" y="3027187"/>
              <a:ext cx="425441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3</a:t>
              </a: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月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2414173" y="3027187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杭州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3228138" y="3027187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水利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843395" y="3419917"/>
              <a:ext cx="34405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C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00209" y="3419917"/>
              <a:ext cx="425441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7</a:t>
              </a: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月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414173" y="3419917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四川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228138" y="3419917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制药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5" grpId="0"/>
      <p:bldP spid="82" grpId="0"/>
      <p:bldP spid="83" grpId="0" animBg="1"/>
      <p:bldP spid="84" grpId="0"/>
      <p:bldP spid="85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576" y="466454"/>
            <a:ext cx="238887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表格部件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(lv_table)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5880" y="1516225"/>
            <a:ext cx="31022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*table = lv_table_create(parent);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80" y="1188877"/>
            <a:ext cx="20862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：创建表格部件 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5479" y="13664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5880" y="3320134"/>
            <a:ext cx="266865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：设置单元格的内容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75479" y="34976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3180" y="3653177"/>
            <a:ext cx="725512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lv_table_set_cell_value(table, 0, 0, "123");	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lv_table_set_cell_value_fmt(table, 1, 0, "%d", 100 );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格式化输入，类似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printf 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45880" y="2005253"/>
            <a:ext cx="23592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：设置行数、列数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575479" y="218280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33180" y="2338296"/>
            <a:ext cx="6639170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lv_table_set_row_cnt(table,2); 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设置行数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lv_table_set_col_cnt(table,2); 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设置列数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lv_table_set_col_width(table, 1, 200); 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设置列的宽度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28521" y="847954"/>
            <a:ext cx="3240000" cy="1168070"/>
            <a:chOff x="5328521" y="847954"/>
            <a:chExt cx="3240000" cy="1168070"/>
          </a:xfrm>
        </p:grpSpPr>
        <p:sp>
          <p:nvSpPr>
            <p:cNvPr id="22" name="矩形: 圆角 21"/>
            <p:cNvSpPr/>
            <p:nvPr/>
          </p:nvSpPr>
          <p:spPr>
            <a:xfrm>
              <a:off x="5328521" y="849897"/>
              <a:ext cx="3240000" cy="36212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467066" y="847954"/>
              <a:ext cx="50280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用户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287380" y="847954"/>
              <a:ext cx="50280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时间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107694" y="847954"/>
              <a:ext cx="50280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地点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928009" y="847954"/>
              <a:ext cx="50280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领域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5328521" y="1606614"/>
              <a:ext cx="324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5328521" y="2016024"/>
              <a:ext cx="324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/>
          </p:nvSpPr>
          <p:spPr>
            <a:xfrm>
              <a:off x="5543266" y="1242542"/>
              <a:ext cx="34405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A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300080" y="1242542"/>
              <a:ext cx="425441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</a:t>
              </a: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月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114044" y="1242542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广州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928009" y="1242542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轨道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543266" y="1649322"/>
              <a:ext cx="34405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B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6300080" y="1649322"/>
              <a:ext cx="425441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3</a:t>
              </a: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月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7114044" y="1649322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杭州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7928009" y="1649322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水利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46" grpId="0"/>
      <p:bldP spid="47" grpId="0" animBg="1"/>
      <p:bldP spid="48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870" y="1475704"/>
            <a:ext cx="4264259" cy="210152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/>
          <p:cNvSpPr txBox="1"/>
          <p:nvPr/>
        </p:nvSpPr>
        <p:spPr>
          <a:xfrm>
            <a:off x="1985008" y="3773924"/>
            <a:ext cx="562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1800" b="1" spc="5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版权所有：广州市星翼电子科技有限公司</a:t>
            </a:r>
            <a:endParaRPr lang="en-US" altLang="zh-CN" sz="1800" b="1" spc="5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eaLnBrk="1" hangingPunct="1">
              <a:defRPr/>
            </a:pPr>
            <a:r>
              <a:rPr lang="zh-CN" altLang="en-US" b="1" spc="5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天猫店铺：</a:t>
            </a:r>
            <a:r>
              <a:rPr lang="en-US" altLang="zh-CN" b="1" spc="5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https://zhengdianyuanzi.tmall.com</a:t>
            </a:r>
            <a:endParaRPr lang="en-US" altLang="zh-CN" sz="1800" b="1" spc="5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jJjOTQxYzhjODMyMDAzZmE0MDJkMWFkNmJlNDkwYTU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30345</Words>
  <Application>WPS 演示</Application>
  <PresentationFormat>全屏显示(16:9)</PresentationFormat>
  <Paragraphs>2946</Paragraphs>
  <Slides>125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125</vt:i4>
      </vt:variant>
    </vt:vector>
  </HeadingPairs>
  <TitlesOfParts>
    <vt:vector size="141" baseType="lpstr">
      <vt:lpstr>Arial</vt:lpstr>
      <vt:lpstr>宋体</vt:lpstr>
      <vt:lpstr>Wingdings</vt:lpstr>
      <vt:lpstr>思源黑体 CN Bold</vt:lpstr>
      <vt:lpstr>黑体</vt:lpstr>
      <vt:lpstr>思源黑体 CN Regular</vt:lpstr>
      <vt:lpstr>Calibri</vt:lpstr>
      <vt:lpstr>思源黑体 CN Normal</vt:lpstr>
      <vt:lpstr>思源黑体 CN Normal</vt:lpstr>
      <vt:lpstr>微软雅黑</vt:lpstr>
      <vt:lpstr>Arial Unicode MS</vt:lpstr>
      <vt:lpstr>等线 Light</vt:lpstr>
      <vt:lpstr>Calibri Light</vt:lpstr>
      <vt:lpstr>等线</vt:lpstr>
      <vt:lpstr>幼圆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一只挺不错的小聪！</cp:lastModifiedBy>
  <cp:revision>6488</cp:revision>
  <dcterms:created xsi:type="dcterms:W3CDTF">2021-03-21T09:45:00Z</dcterms:created>
  <dcterms:modified xsi:type="dcterms:W3CDTF">2024-06-15T09:07:06Z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08F32879984345B79645DB3A118A8B1E_12</vt:lpwstr>
  </property>
  <property fmtid="{D5CDD505-2E9C-101B-9397-08002B2CF9AE}" pid="3" name="KSOProductBuildVer">
    <vt:lpwstr>2052-12.1.0.16929</vt:lpwstr>
  </property>
</Properties>
</file>